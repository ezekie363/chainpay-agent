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219"/>
    <p:restoredTop sz="95065"/>
  </p:normalViewPr>
  <p:slideViewPr>
    <p:cSldViewPr snapToGrid="0">
      <p:cViewPr>
        <p:scale>
          <a:sx n="120" d="100"/>
          <a:sy n="120" d="100"/>
        </p:scale>
        <p:origin x="9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E6DE902F-5717-4934-82D7-EEFF347018F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7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376DE3A-87C9-4B4A-8026-1B1044BDED1D}"/>
              </a:ext>
            </a:extLst>
          </p:cNvPr>
          <p:cNvSpPr>
            <a:spLocks noGrp="1"/>
          </p:cNvSpPr>
          <p:nvPr/>
        </p:nvSpPr>
        <p:spPr>
          <a:xfrm>
            <a:off x="685800" y="678933"/>
            <a:ext cx="85725" cy="857250"/>
          </a:xfrm>
          <a:prstGeom prst="rect">
            <a:avLst/>
          </a:prstGeom>
          <a:solidFill>
            <a:srgbClr val="0891B2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B8AE845-D71B-48F3-8CBD-9A5148B14239}"/>
              </a:ext>
            </a:extLst>
          </p:cNvPr>
          <p:cNvSpPr>
            <a:spLocks noGrp="1"/>
          </p:cNvSpPr>
          <p:nvPr/>
        </p:nvSpPr>
        <p:spPr>
          <a:xfrm>
            <a:off x="914400" y="590550"/>
            <a:ext cx="4953000" cy="247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1125" b="1" i="0">
                <a:solidFill>
                  <a:srgbClr val="DDF3F7"/>
                </a:solidFill>
                <a:latin typeface="Avenir Next"/>
                <a:ea typeface="Avenir Next"/>
                <a:cs typeface="Avenir Next"/>
              </a:defRPr>
            </a:pPr>
            <a:r>
              <a:rPr sz="2800" b="1" i="0" dirty="0">
                <a:solidFill>
                  <a:srgbClr val="DDF3F7"/>
                </a:solidFill>
                <a:latin typeface="Avenir Next"/>
                <a:ea typeface="Avenir Next"/>
                <a:cs typeface="Avenir Next"/>
              </a:rPr>
              <a:t>CHAINQUERY AGENT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A86D3A1-84DC-45A3-9D6D-B67C0B826E6F}"/>
              </a:ext>
            </a:extLst>
          </p:cNvPr>
          <p:cNvSpPr>
            <a:spLocks noGrp="1"/>
          </p:cNvSpPr>
          <p:nvPr/>
        </p:nvSpPr>
        <p:spPr>
          <a:xfrm>
            <a:off x="914400" y="1123950"/>
            <a:ext cx="7810500" cy="1123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31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 i="0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让</a:t>
            </a:r>
            <a:r>
              <a:rPr sz="31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 AI Agent </a:t>
            </a:r>
            <a:r>
              <a:rPr sz="3150" b="1" i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自主为链上数据查询付费</a:t>
            </a:r>
            <a:endParaRPr sz="3150" b="1" i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84ABA51-A5A3-4B59-B7D5-70AA9DC142D0}"/>
              </a:ext>
            </a:extLst>
          </p:cNvPr>
          <p:cNvSpPr>
            <a:spLocks noGrp="1"/>
          </p:cNvSpPr>
          <p:nvPr/>
        </p:nvSpPr>
        <p:spPr>
          <a:xfrm>
            <a:off x="914400" y="2400300"/>
            <a:ext cx="7239000" cy="2667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1350" b="0" i="0">
                <a:solidFill>
                  <a:srgbClr val="CBD5E1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CBD5E1"/>
                </a:solidFill>
                <a:latin typeface="Avenir Next"/>
                <a:ea typeface="Avenir Next"/>
                <a:cs typeface="Avenir Next"/>
              </a:rPr>
              <a:t>AI × Web3 Hackathon · Cobo Track 01 · Agent-Native Payments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2D241E2-F472-4792-906A-CA7F11F88744}"/>
              </a:ext>
            </a:extLst>
          </p:cNvPr>
          <p:cNvSpPr>
            <a:spLocks noGrp="1"/>
          </p:cNvSpPr>
          <p:nvPr/>
        </p:nvSpPr>
        <p:spPr>
          <a:xfrm>
            <a:off x="914400" y="3124200"/>
            <a:ext cx="7810500" cy="800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buNone/>
              <a:defRPr sz="1575" b="0" i="0">
                <a:solidFill>
                  <a:srgbClr val="E5E7E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 i="0">
                <a:solidFill>
                  <a:srgbClr val="E5E7EB"/>
                </a:solidFill>
                <a:latin typeface="PingFang SC"/>
                <a:ea typeface="PingFang SC"/>
                <a:cs typeface="PingFang SC"/>
              </a:rPr>
              <a:t>LLM </a:t>
            </a:r>
            <a:r>
              <a:rPr sz="1575" b="0" i="0" err="1">
                <a:solidFill>
                  <a:srgbClr val="E5E7EB"/>
                </a:solidFill>
                <a:latin typeface="PingFang SC"/>
                <a:ea typeface="PingFang SC"/>
                <a:cs typeface="PingFang SC"/>
              </a:rPr>
              <a:t>不只决定调用哪个工具，还能在无需人工审批的情况下，通过</a:t>
            </a:r>
            <a:r>
              <a:rPr sz="1575" b="0" i="0">
                <a:solidFill>
                  <a:srgbClr val="E5E7EB"/>
                </a:solidFill>
                <a:latin typeface="PingFang SC"/>
                <a:ea typeface="PingFang SC"/>
                <a:cs typeface="PingFang SC"/>
              </a:rPr>
              <a:t> x402 + Cobo MPC Wallet </a:t>
            </a:r>
            <a:r>
              <a:rPr sz="1575" b="0" i="0" err="1">
                <a:solidFill>
                  <a:srgbClr val="E5E7EB"/>
                </a:solidFill>
                <a:latin typeface="PingFang SC"/>
                <a:ea typeface="PingFang SC"/>
                <a:cs typeface="PingFang SC"/>
              </a:rPr>
              <a:t>完成真实</a:t>
            </a:r>
            <a:r>
              <a:rPr sz="1575" b="0" i="0">
                <a:solidFill>
                  <a:srgbClr val="E5E7EB"/>
                </a:solidFill>
                <a:latin typeface="PingFang SC"/>
                <a:ea typeface="PingFang SC"/>
                <a:cs typeface="PingFang SC"/>
              </a:rPr>
              <a:t> USDC </a:t>
            </a:r>
            <a:r>
              <a:rPr sz="1575" b="0" i="0" err="1">
                <a:solidFill>
                  <a:srgbClr val="E5E7EB"/>
                </a:solidFill>
                <a:latin typeface="PingFang SC"/>
                <a:ea typeface="PingFang SC"/>
                <a:cs typeface="PingFang SC"/>
              </a:rPr>
              <a:t>微支付，并把链上可验证的交易作为审计日志</a:t>
            </a:r>
            <a:r>
              <a:rPr sz="1575" b="0" i="0">
                <a:solidFill>
                  <a:srgbClr val="E5E7EB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AC36878-8F09-4FD5-800A-E04E5408F50B}"/>
              </a:ext>
            </a:extLst>
          </p:cNvPr>
          <p:cNvSpPr>
            <a:spLocks noGrp="1"/>
          </p:cNvSpPr>
          <p:nvPr/>
        </p:nvSpPr>
        <p:spPr>
          <a:xfrm>
            <a:off x="914400" y="4686300"/>
            <a:ext cx="1638300" cy="781050"/>
          </a:xfrm>
          <a:prstGeom prst="rect">
            <a:avLst/>
          </a:prstGeom>
          <a:solidFill>
            <a:srgbClr val="1F2937"/>
          </a:solidFill>
          <a:ln w="9525">
            <a:solidFill>
              <a:srgbClr val="3B475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7FC83DA-8C4B-472E-A120-898C4E284000}"/>
              </a:ext>
            </a:extLst>
          </p:cNvPr>
          <p:cNvSpPr>
            <a:spLocks noGrp="1"/>
          </p:cNvSpPr>
          <p:nvPr/>
        </p:nvSpPr>
        <p:spPr>
          <a:xfrm>
            <a:off x="1066800" y="4800600"/>
            <a:ext cx="133350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19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$0.01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9D49DE7-592C-4E32-9998-BDDBD877FB71}"/>
              </a:ext>
            </a:extLst>
          </p:cNvPr>
          <p:cNvSpPr>
            <a:spLocks noGrp="1"/>
          </p:cNvSpPr>
          <p:nvPr/>
        </p:nvSpPr>
        <p:spPr>
          <a:xfrm>
            <a:off x="1066800" y="5143500"/>
            <a:ext cx="1333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900" b="0" i="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 i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USDC / paid query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58CC129-214E-4023-99B4-B638ADE4F00B}"/>
              </a:ext>
            </a:extLst>
          </p:cNvPr>
          <p:cNvSpPr>
            <a:spLocks noGrp="1"/>
          </p:cNvSpPr>
          <p:nvPr/>
        </p:nvSpPr>
        <p:spPr>
          <a:xfrm>
            <a:off x="2819400" y="4686300"/>
            <a:ext cx="1638300" cy="781050"/>
          </a:xfrm>
          <a:prstGeom prst="rect">
            <a:avLst/>
          </a:prstGeom>
          <a:solidFill>
            <a:srgbClr val="1F2937"/>
          </a:solidFill>
          <a:ln w="9525">
            <a:solidFill>
              <a:srgbClr val="3B475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6A7F99D-9FC9-479B-A1C4-423B179A495B}"/>
              </a:ext>
            </a:extLst>
          </p:cNvPr>
          <p:cNvSpPr>
            <a:spLocks noGrp="1"/>
          </p:cNvSpPr>
          <p:nvPr/>
        </p:nvSpPr>
        <p:spPr>
          <a:xfrm>
            <a:off x="2971800" y="4800600"/>
            <a:ext cx="133350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19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6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0E8F268-5D21-4CF8-8913-2975C044A629}"/>
              </a:ext>
            </a:extLst>
          </p:cNvPr>
          <p:cNvSpPr>
            <a:spLocks noGrp="1"/>
          </p:cNvSpPr>
          <p:nvPr/>
        </p:nvSpPr>
        <p:spPr>
          <a:xfrm>
            <a:off x="2971800" y="5143500"/>
            <a:ext cx="1333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900" b="0" i="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 i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paid query tools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7130082-A0F3-4984-954F-C4C80448FD2D}"/>
              </a:ext>
            </a:extLst>
          </p:cNvPr>
          <p:cNvSpPr>
            <a:spLocks noGrp="1"/>
          </p:cNvSpPr>
          <p:nvPr/>
        </p:nvSpPr>
        <p:spPr>
          <a:xfrm>
            <a:off x="4724400" y="4686300"/>
            <a:ext cx="1638300" cy="781050"/>
          </a:xfrm>
          <a:prstGeom prst="rect">
            <a:avLst/>
          </a:prstGeom>
          <a:solidFill>
            <a:srgbClr val="1F2937"/>
          </a:solidFill>
          <a:ln w="9525">
            <a:solidFill>
              <a:srgbClr val="3B475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CFFCEA8-0E85-4B83-B0A0-72C5C069B1E4}"/>
              </a:ext>
            </a:extLst>
          </p:cNvPr>
          <p:cNvSpPr>
            <a:spLocks noGrp="1"/>
          </p:cNvSpPr>
          <p:nvPr/>
        </p:nvSpPr>
        <p:spPr>
          <a:xfrm>
            <a:off x="4876800" y="4800600"/>
            <a:ext cx="133350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19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Base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18E49BB-D07B-4584-8D98-2E60498BEBB3}"/>
              </a:ext>
            </a:extLst>
          </p:cNvPr>
          <p:cNvSpPr>
            <a:spLocks noGrp="1"/>
          </p:cNvSpPr>
          <p:nvPr/>
        </p:nvSpPr>
        <p:spPr>
          <a:xfrm>
            <a:off x="4876800" y="5143500"/>
            <a:ext cx="1333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900" b="0" i="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 i="0" err="1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Sepolia</a:t>
            </a:r>
            <a:r>
              <a:rPr sz="900" b="0" i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 settlement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558589F-84EF-4FEA-A8D9-9BF11B42297F}"/>
              </a:ext>
            </a:extLst>
          </p:cNvPr>
          <p:cNvSpPr>
            <a:spLocks noGrp="1"/>
          </p:cNvSpPr>
          <p:nvPr/>
        </p:nvSpPr>
        <p:spPr>
          <a:xfrm>
            <a:off x="6629400" y="4686300"/>
            <a:ext cx="1638300" cy="781050"/>
          </a:xfrm>
          <a:prstGeom prst="rect">
            <a:avLst/>
          </a:prstGeom>
          <a:solidFill>
            <a:srgbClr val="1F2937"/>
          </a:solidFill>
          <a:ln w="9525">
            <a:solidFill>
              <a:srgbClr val="3B475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597A66A-0959-473B-ABE8-0CD8C001118F}"/>
              </a:ext>
            </a:extLst>
          </p:cNvPr>
          <p:cNvSpPr>
            <a:spLocks noGrp="1"/>
          </p:cNvSpPr>
          <p:nvPr/>
        </p:nvSpPr>
        <p:spPr>
          <a:xfrm>
            <a:off x="6781800" y="4800600"/>
            <a:ext cx="133350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19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MPC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A56E3C5-41FC-4317-9CAB-8F7B4A9B1C65}"/>
              </a:ext>
            </a:extLst>
          </p:cNvPr>
          <p:cNvSpPr>
            <a:spLocks noGrp="1"/>
          </p:cNvSpPr>
          <p:nvPr/>
        </p:nvSpPr>
        <p:spPr>
          <a:xfrm>
            <a:off x="6781800" y="5143500"/>
            <a:ext cx="1333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900" b="0" i="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 i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CAW </a:t>
            </a:r>
            <a:r>
              <a:rPr sz="900" b="0" i="0" err="1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message_sign</a:t>
            </a:r>
            <a:endParaRPr sz="900" b="0" i="0">
              <a:solidFill>
                <a:srgbClr val="CBD5E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84EB7C2-1373-4108-ABC2-E4B682552954}"/>
              </a:ext>
            </a:extLst>
          </p:cNvPr>
          <p:cNvSpPr>
            <a:spLocks noGrp="1"/>
          </p:cNvSpPr>
          <p:nvPr/>
        </p:nvSpPr>
        <p:spPr>
          <a:xfrm>
            <a:off x="9810750" y="895350"/>
            <a:ext cx="1238250" cy="28575"/>
          </a:xfrm>
          <a:prstGeom prst="rect">
            <a:avLst/>
          </a:prstGeom>
          <a:solidFill>
            <a:srgbClr val="0891B2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16E1639-FD91-4434-8812-6970CA812A5D}"/>
              </a:ext>
            </a:extLst>
          </p:cNvPr>
          <p:cNvSpPr>
            <a:spLocks noGrp="1"/>
          </p:cNvSpPr>
          <p:nvPr/>
        </p:nvSpPr>
        <p:spPr>
          <a:xfrm>
            <a:off x="9525000" y="1066800"/>
            <a:ext cx="1809750" cy="2667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2000"/>
              </a:lnSpc>
              <a:buNone/>
              <a:defRPr sz="1125" b="0" i="0">
                <a:solidFill>
                  <a:srgbClr val="CBD5E1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CBD5E1"/>
                </a:solidFill>
                <a:latin typeface="Avenir Next"/>
                <a:ea typeface="Avenir Next"/>
                <a:cs typeface="Avenir Next"/>
              </a:rPr>
              <a:t>Academic demo report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23892BF-3FB6-4D3D-AC0A-96B1197CB177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819150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750" b="0" i="0">
                <a:solidFill>
                  <a:srgbClr val="B7C1CE"/>
                </a:solidFill>
                <a:latin typeface="Avenir Next"/>
                <a:ea typeface="Avenir Next"/>
                <a:cs typeface="Avenir Next"/>
              </a:defRPr>
            </a:pPr>
            <a:endParaRPr sz="750" b="0" i="0">
              <a:solidFill>
                <a:srgbClr val="B7C1CE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F5166FD-90FF-402B-836E-99333A017F6B}"/>
              </a:ext>
            </a:extLst>
          </p:cNvPr>
          <p:cNvSpPr>
            <a:spLocks noGrp="1"/>
          </p:cNvSpPr>
          <p:nvPr/>
        </p:nvSpPr>
        <p:spPr>
          <a:xfrm>
            <a:off x="11334750" y="6400800"/>
            <a:ext cx="400050" cy="209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2000"/>
              </a:lnSpc>
              <a:buNone/>
              <a:defRPr sz="900" b="0" i="0">
                <a:solidFill>
                  <a:srgbClr val="B7C1CE"/>
                </a:solidFill>
                <a:latin typeface="Avenir Next"/>
                <a:ea typeface="Avenir Next"/>
                <a:cs typeface="Avenir Next"/>
              </a:defRPr>
            </a:pPr>
            <a:r>
              <a:rPr sz="900" b="0" i="0" dirty="0">
                <a:solidFill>
                  <a:srgbClr val="B7C1CE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45A1ABD-C81C-DF0B-FB50-40A44C9B5656}"/>
              </a:ext>
            </a:extLst>
          </p:cNvPr>
          <p:cNvSpPr>
            <a:spLocks noGrp="1"/>
          </p:cNvSpPr>
          <p:nvPr/>
        </p:nvSpPr>
        <p:spPr>
          <a:xfrm>
            <a:off x="9639300" y="3728705"/>
            <a:ext cx="1409700" cy="65966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1350" b="0" i="0">
                <a:solidFill>
                  <a:srgbClr val="CBD5E1"/>
                </a:solidFill>
                <a:latin typeface="Avenir Next"/>
                <a:ea typeface="Avenir Next"/>
                <a:cs typeface="Avenir Next"/>
              </a:defRPr>
            </a:pPr>
            <a:r>
              <a:rPr lang="en-US" altLang="zh-CN" sz="2000" b="1" i="0">
                <a:solidFill>
                  <a:srgbClr val="CBD5E1"/>
                </a:solidFill>
                <a:latin typeface="Avenir Next"/>
                <a:ea typeface="Avenir Next"/>
                <a:cs typeface="Avenir Next"/>
              </a:rPr>
              <a:t>Ezekiel</a:t>
            </a:r>
          </a:p>
          <a:p>
            <a:pPr>
              <a:lnSpc>
                <a:spcPct val="112000"/>
              </a:lnSpc>
              <a:defRPr sz="1350" b="0" i="0">
                <a:solidFill>
                  <a:srgbClr val="CBD5E1"/>
                </a:solidFill>
                <a:latin typeface="Avenir Next"/>
                <a:ea typeface="Avenir Next"/>
                <a:cs typeface="Avenir Next"/>
              </a:defRPr>
            </a:pPr>
            <a:r>
              <a:rPr lang="en" altLang="zh-CN" sz="1350"/>
              <a:t>X</a:t>
            </a:r>
            <a:r>
              <a:rPr lang="zh-CN" altLang="en-US" sz="1350"/>
              <a:t>：</a:t>
            </a:r>
            <a:r>
              <a:rPr lang="en" altLang="zh-CN" sz="1350"/>
              <a:t>0xEzekiel23</a:t>
            </a:r>
            <a:endParaRPr sz="2000" b="1" i="0">
              <a:solidFill>
                <a:srgbClr val="CBD5E1"/>
              </a:solidFill>
              <a:latin typeface="Avenir Next"/>
              <a:ea typeface="Avenir Next"/>
              <a:cs typeface="Avenir Next"/>
            </a:endParaRPr>
          </a:p>
        </p:txBody>
      </p:sp>
      <p:pic>
        <p:nvPicPr>
          <p:cNvPr id="26" name="图片 25" descr="图标&#10;&#10;AI 生成的内容可能不正确。">
            <a:extLst>
              <a:ext uri="{FF2B5EF4-FFF2-40B4-BE49-F238E27FC236}">
                <a16:creationId xmlns:a16="http://schemas.microsoft.com/office/drawing/2014/main" id="{8A6C3A49-E1F7-F915-EDBD-E680CE07F8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9300" y="2010440"/>
            <a:ext cx="1638300" cy="163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086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kicker-marker">
            <a:extLst>
              <a:ext uri="{FF2B5EF4-FFF2-40B4-BE49-F238E27FC236}">
                <a16:creationId xmlns:a16="http://schemas.microsoft.com/office/drawing/2014/main" id="{9C63EDEC-9845-475C-8599-831B93DBB4E0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85725" cy="85725"/>
          </a:xfrm>
          <a:prstGeom prst="rect">
            <a:avLst/>
          </a:prstGeom>
          <a:solidFill>
            <a:srgbClr val="0891B2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" name="kicker-label">
            <a:extLst>
              <a:ext uri="{FF2B5EF4-FFF2-40B4-BE49-F238E27FC236}">
                <a16:creationId xmlns:a16="http://schemas.microsoft.com/office/drawing/2014/main" id="{3368C35C-B434-4697-8D81-27E349D33817}"/>
              </a:ext>
            </a:extLst>
          </p:cNvPr>
          <p:cNvSpPr>
            <a:spLocks noGrp="1"/>
          </p:cNvSpPr>
          <p:nvPr/>
        </p:nvSpPr>
        <p:spPr>
          <a:xfrm>
            <a:off x="876300" y="409575"/>
            <a:ext cx="4381500" cy="2476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2000"/>
              </a:lnSpc>
              <a:buNone/>
              <a:defRPr sz="975" b="1" i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 dirty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PROBLEM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2F48DC9-4340-4A05-90FA-C8EC354C2EB4}"/>
              </a:ext>
            </a:extLst>
          </p:cNvPr>
          <p:cNvSpPr>
            <a:spLocks noGrp="1"/>
          </p:cNvSpPr>
          <p:nvPr/>
        </p:nvSpPr>
        <p:spPr>
          <a:xfrm>
            <a:off x="685799" y="781050"/>
            <a:ext cx="10344135" cy="990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2625" b="1" i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 i="0" dirty="0" err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传统 API 消费的“付款动作”仍依赖人，Agent自主性在这里断裂。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775B387-2613-49CA-9E40-ABF633EF3C13}"/>
              </a:ext>
            </a:extLst>
          </p:cNvPr>
          <p:cNvSpPr>
            <a:spLocks noGrp="1"/>
          </p:cNvSpPr>
          <p:nvPr/>
        </p:nvSpPr>
        <p:spPr>
          <a:xfrm>
            <a:off x="742950" y="2000250"/>
            <a:ext cx="4095750" cy="33337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E42F4F5-D4B4-4225-A101-CBCB0A54FBBA}"/>
              </a:ext>
            </a:extLst>
          </p:cNvPr>
          <p:cNvSpPr>
            <a:spLocks noGrp="1"/>
          </p:cNvSpPr>
          <p:nvPr/>
        </p:nvSpPr>
        <p:spPr>
          <a:xfrm>
            <a:off x="5334000" y="2000250"/>
            <a:ext cx="4095750" cy="33337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E423502-39AC-4F33-AD87-ECAEFCB0A811}"/>
              </a:ext>
            </a:extLst>
          </p:cNvPr>
          <p:cNvSpPr>
            <a:spLocks noGrp="1"/>
          </p:cNvSpPr>
          <p:nvPr/>
        </p:nvSpPr>
        <p:spPr>
          <a:xfrm>
            <a:off x="1047750" y="2266950"/>
            <a:ext cx="285750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1650" b="1" i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i="0" dirty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Web2 API billing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D306B19-6067-4941-8F0F-22A803B4B4BE}"/>
              </a:ext>
            </a:extLst>
          </p:cNvPr>
          <p:cNvSpPr>
            <a:spLocks noGrp="1"/>
          </p:cNvSpPr>
          <p:nvPr/>
        </p:nvSpPr>
        <p:spPr>
          <a:xfrm>
            <a:off x="1047750" y="2724150"/>
            <a:ext cx="3048000" cy="2667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1350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 dirty="0" err="1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预充值</a:t>
            </a:r>
            <a:r>
              <a:rPr sz="1350" b="0" i="0" dirty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 / </a:t>
            </a:r>
            <a:r>
              <a:rPr sz="1350" b="0" i="0" dirty="0" err="1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绑卡</a:t>
            </a:r>
            <a:r>
              <a:rPr sz="1350" b="0" i="0" dirty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 / API Key </a:t>
            </a:r>
            <a:r>
              <a:rPr sz="1350" b="0" i="0" dirty="0" err="1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记账</a:t>
            </a:r>
            <a:endParaRPr sz="1350" b="0" i="0" dirty="0">
              <a:solidFill>
                <a:srgbClr val="3341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A82F1B0-4508-4C2B-B8A1-453C2B84BDAE}"/>
              </a:ext>
            </a:extLst>
          </p:cNvPr>
          <p:cNvSpPr>
            <a:spLocks noGrp="1"/>
          </p:cNvSpPr>
          <p:nvPr/>
        </p:nvSpPr>
        <p:spPr>
          <a:xfrm>
            <a:off x="1047750" y="3219450"/>
            <a:ext cx="3048000" cy="838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4000"/>
              </a:lnSpc>
              <a:buNone/>
              <a:defRPr sz="1275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 dirty="0" err="1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调用发生与费用结算之间存在平台账本；用户很难独立验证每次调用的成本、发生时间和资金流向</a:t>
            </a:r>
            <a:r>
              <a:rPr sz="1275" b="0" i="0" dirty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986B942-56A5-47F4-AF59-8D30F61231E1}"/>
              </a:ext>
            </a:extLst>
          </p:cNvPr>
          <p:cNvSpPr>
            <a:spLocks noGrp="1"/>
          </p:cNvSpPr>
          <p:nvPr/>
        </p:nvSpPr>
        <p:spPr>
          <a:xfrm>
            <a:off x="1047750" y="4514850"/>
            <a:ext cx="2857500" cy="2667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1275" b="1" i="0">
                <a:solidFill>
                  <a:srgbClr val="BE123C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 dirty="0" err="1">
                <a:solidFill>
                  <a:srgbClr val="BE123C"/>
                </a:solidFill>
                <a:latin typeface="PingFang SC"/>
                <a:ea typeface="PingFang SC"/>
                <a:cs typeface="PingFang SC"/>
              </a:rPr>
              <a:t>人类审批仍是关键路径</a:t>
            </a:r>
            <a:endParaRPr sz="1275" b="1" i="0" dirty="0">
              <a:solidFill>
                <a:srgbClr val="BE123C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4639971-19A8-47CD-818E-2942DCE51AC7}"/>
              </a:ext>
            </a:extLst>
          </p:cNvPr>
          <p:cNvSpPr>
            <a:spLocks noGrp="1"/>
          </p:cNvSpPr>
          <p:nvPr/>
        </p:nvSpPr>
        <p:spPr>
          <a:xfrm>
            <a:off x="1047750" y="4838700"/>
            <a:ext cx="3048000" cy="247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1125" b="0" i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Agent 只是“请求者”，不是支付主体。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4AC288B-FE07-44CB-90D8-385ED98733F5}"/>
              </a:ext>
            </a:extLst>
          </p:cNvPr>
          <p:cNvSpPr>
            <a:spLocks noGrp="1"/>
          </p:cNvSpPr>
          <p:nvPr/>
        </p:nvSpPr>
        <p:spPr>
          <a:xfrm>
            <a:off x="5638800" y="2266950"/>
            <a:ext cx="342900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1650" b="1" i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i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Agent-native payment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3309B83-4012-4948-B3F8-DD101C630403}"/>
              </a:ext>
            </a:extLst>
          </p:cNvPr>
          <p:cNvSpPr>
            <a:spLocks noGrp="1"/>
          </p:cNvSpPr>
          <p:nvPr/>
        </p:nvSpPr>
        <p:spPr>
          <a:xfrm>
            <a:off x="5638800" y="2724150"/>
            <a:ext cx="3048000" cy="2667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1350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按需签名 / 即时付费 / 链上可验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A458FC2-F181-4B33-B873-7185788CA28D}"/>
              </a:ext>
            </a:extLst>
          </p:cNvPr>
          <p:cNvSpPr>
            <a:spLocks noGrp="1"/>
          </p:cNvSpPr>
          <p:nvPr/>
        </p:nvSpPr>
        <p:spPr>
          <a:xfrm>
            <a:off x="5638800" y="3219450"/>
            <a:ext cx="3219450" cy="990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4000"/>
              </a:lnSpc>
              <a:buNone/>
              <a:defRPr sz="1275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每次查询都变成一次独立授权：LLM 决策工具，x402 协议触发支付，CAW MPC 签名，链上 USDC 转账留下可审计痕迹。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06E779F-4823-4AE7-989A-36F02F3DC8FB}"/>
              </a:ext>
            </a:extLst>
          </p:cNvPr>
          <p:cNvSpPr>
            <a:spLocks noGrp="1"/>
          </p:cNvSpPr>
          <p:nvPr/>
        </p:nvSpPr>
        <p:spPr>
          <a:xfrm>
            <a:off x="5638800" y="4514850"/>
            <a:ext cx="3143250" cy="2667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1275" b="1" i="0">
                <a:solidFill>
                  <a:srgbClr val="04785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047857"/>
                </a:solidFill>
                <a:latin typeface="PingFang SC"/>
                <a:ea typeface="PingFang SC"/>
                <a:cs typeface="PingFang SC"/>
              </a:rPr>
              <a:t>支付成为工具调用的一部分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8231404-22A8-4E05-A376-5F4EA4049939}"/>
              </a:ext>
            </a:extLst>
          </p:cNvPr>
          <p:cNvSpPr>
            <a:spLocks noGrp="1"/>
          </p:cNvSpPr>
          <p:nvPr/>
        </p:nvSpPr>
        <p:spPr>
          <a:xfrm>
            <a:off x="5638800" y="4838700"/>
            <a:ext cx="3238500" cy="247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1125" b="0" i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Agent 能“自己买数据”，但权限可被策略约束。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2CBA967-A2EB-4D18-8CAC-2D1AC801171B}"/>
              </a:ext>
            </a:extLst>
          </p:cNvPr>
          <p:cNvSpPr>
            <a:spLocks noGrp="1"/>
          </p:cNvSpPr>
          <p:nvPr/>
        </p:nvSpPr>
        <p:spPr>
          <a:xfrm>
            <a:off x="4810125" y="3667125"/>
            <a:ext cx="523875" cy="19050"/>
          </a:xfrm>
          <a:prstGeom prst="rect">
            <a:avLst/>
          </a:prstGeom>
          <a:solidFill>
            <a:srgbClr val="D97706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853A67D-1FDC-42DD-8A39-17895BF0EC15}"/>
              </a:ext>
            </a:extLst>
          </p:cNvPr>
          <p:cNvSpPr>
            <a:spLocks noGrp="1"/>
          </p:cNvSpPr>
          <p:nvPr/>
        </p:nvSpPr>
        <p:spPr>
          <a:xfrm>
            <a:off x="5267325" y="3590925"/>
            <a:ext cx="17145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975" b="1" i="0">
                <a:solidFill>
                  <a:srgbClr val="D97706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D97706"/>
                </a:solidFill>
                <a:latin typeface="Avenir Next"/>
                <a:ea typeface="Avenir Next"/>
                <a:cs typeface="Avenir Next"/>
              </a:rPr>
              <a:t>&gt;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9A8E69B-85EE-492C-AFE7-5EC2AD620C1F}"/>
              </a:ext>
            </a:extLst>
          </p:cNvPr>
          <p:cNvSpPr>
            <a:spLocks noGrp="1"/>
          </p:cNvSpPr>
          <p:nvPr/>
        </p:nvSpPr>
        <p:spPr>
          <a:xfrm>
            <a:off x="4795250" y="3526794"/>
            <a:ext cx="619517" cy="12826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675" b="0" i="0">
                <a:solidFill>
                  <a:srgbClr val="D97706"/>
                </a:solidFill>
                <a:latin typeface="Avenir Next"/>
                <a:ea typeface="Avenir Next"/>
                <a:cs typeface="Avenir Next"/>
              </a:defRPr>
            </a:pPr>
            <a:r>
              <a:rPr sz="675" b="0" i="0">
                <a:solidFill>
                  <a:srgbClr val="D97706"/>
                </a:solidFill>
                <a:latin typeface="Avenir Next"/>
                <a:ea typeface="Avenir Next"/>
                <a:cs typeface="Avenir Next"/>
              </a:rPr>
              <a:t>research gap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16FE290-53C6-4030-9224-E0F91F5D1594}"/>
              </a:ext>
            </a:extLst>
          </p:cNvPr>
          <p:cNvSpPr>
            <a:spLocks noGrp="1"/>
          </p:cNvSpPr>
          <p:nvPr/>
        </p:nvSpPr>
        <p:spPr>
          <a:xfrm>
            <a:off x="9906000" y="2095500"/>
            <a:ext cx="9525" cy="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686A67E-F457-4DFC-967B-A37A657B8BD3}"/>
              </a:ext>
            </a:extLst>
          </p:cNvPr>
          <p:cNvSpPr>
            <a:spLocks noGrp="1"/>
          </p:cNvSpPr>
          <p:nvPr/>
        </p:nvSpPr>
        <p:spPr>
          <a:xfrm>
            <a:off x="9906000" y="2552700"/>
            <a:ext cx="142875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1200" b="1" i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研究命题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61C4C82-4019-4DF0-9771-95FC65155DF7}"/>
              </a:ext>
            </a:extLst>
          </p:cNvPr>
          <p:cNvSpPr>
            <a:spLocks noGrp="1"/>
          </p:cNvSpPr>
          <p:nvPr/>
        </p:nvSpPr>
        <p:spPr>
          <a:xfrm>
            <a:off x="9906000" y="2857500"/>
            <a:ext cx="1976242" cy="1428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500" b="1" i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能否把“调用外部服务”和“为服务付费”合并成同一个、可验证、可控的 Agent 行为？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D2E9FEA-8AEF-42E7-8717-CBE0CCA304E9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819150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750" b="0" i="0">
                <a:solidFill>
                  <a:srgbClr val="64748B"/>
                </a:solidFill>
                <a:latin typeface="Avenir Next"/>
                <a:ea typeface="Avenir Next"/>
                <a:cs typeface="Avenir Next"/>
              </a:defRPr>
            </a:pPr>
            <a:endParaRPr sz="750" b="0" i="0">
              <a:solidFill>
                <a:srgbClr val="64748B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373F073-A54C-4C7E-8859-24B75580A193}"/>
              </a:ext>
            </a:extLst>
          </p:cNvPr>
          <p:cNvSpPr>
            <a:spLocks noGrp="1"/>
          </p:cNvSpPr>
          <p:nvPr/>
        </p:nvSpPr>
        <p:spPr>
          <a:xfrm>
            <a:off x="11334750" y="6400800"/>
            <a:ext cx="400050" cy="209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2000"/>
              </a:lnSpc>
              <a:buNone/>
              <a:defRPr sz="900" b="0" i="0">
                <a:solidFill>
                  <a:srgbClr val="64748B"/>
                </a:solidFill>
                <a:latin typeface="Avenir Next"/>
                <a:ea typeface="Avenir Next"/>
                <a:cs typeface="Avenir Next"/>
              </a:defRPr>
            </a:pPr>
            <a:r>
              <a:rPr sz="900" b="0" i="0">
                <a:solidFill>
                  <a:srgbClr val="64748B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00897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kicker-marker">
            <a:extLst>
              <a:ext uri="{FF2B5EF4-FFF2-40B4-BE49-F238E27FC236}">
                <a16:creationId xmlns:a16="http://schemas.microsoft.com/office/drawing/2014/main" id="{3011A8F4-654B-428B-A936-92F3D956C12A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85725" cy="85725"/>
          </a:xfrm>
          <a:prstGeom prst="rect">
            <a:avLst/>
          </a:prstGeom>
          <a:solidFill>
            <a:srgbClr val="0891B2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" name="kicker-label">
            <a:extLst>
              <a:ext uri="{FF2B5EF4-FFF2-40B4-BE49-F238E27FC236}">
                <a16:creationId xmlns:a16="http://schemas.microsoft.com/office/drawing/2014/main" id="{F2A56C33-8BDD-4C54-8595-3F04FD755198}"/>
              </a:ext>
            </a:extLst>
          </p:cNvPr>
          <p:cNvSpPr>
            <a:spLocks noGrp="1"/>
          </p:cNvSpPr>
          <p:nvPr/>
        </p:nvSpPr>
        <p:spPr>
          <a:xfrm>
            <a:off x="876300" y="409575"/>
            <a:ext cx="4381500" cy="2476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2000"/>
              </a:lnSpc>
              <a:buNone/>
              <a:defRPr sz="975" b="1" i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ARCHITECTURE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17835E6-135C-4E92-BE44-97E1F97A6222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478386" cy="990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2625" b="1" i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 i="0" err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ChainQuery 把 LLM 工具选择、x402
支付和链上结算串成一个闭环。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2C04206-7154-4845-9B40-6506741BBAB6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152400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81464C6-F923-49D5-BCB9-A0CD13F0C0F7}"/>
              </a:ext>
            </a:extLst>
          </p:cNvPr>
          <p:cNvSpPr>
            <a:spLocks noGrp="1"/>
          </p:cNvSpPr>
          <p:nvPr/>
        </p:nvSpPr>
        <p:spPr>
          <a:xfrm>
            <a:off x="838200" y="2228850"/>
            <a:ext cx="1219200" cy="247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1275" b="1" i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用户 CLI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FCD2B22-8835-457D-A28F-973BB5D68B87}"/>
              </a:ext>
            </a:extLst>
          </p:cNvPr>
          <p:cNvSpPr>
            <a:spLocks noGrp="1"/>
          </p:cNvSpPr>
          <p:nvPr/>
        </p:nvSpPr>
        <p:spPr>
          <a:xfrm>
            <a:off x="844300" y="2524125"/>
            <a:ext cx="1219200" cy="4000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900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Rich + prompt_toolkit</a:t>
            </a:r>
          </a:p>
          <a:p>
            <a:pPr algn="l">
              <a:lnSpc>
                <a:spcPct val="118000"/>
              </a:lnSpc>
              <a:buNone/>
              <a:defRPr sz="900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实时支付流水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D1104DA-E0F2-4A4C-8342-104206B2CE69}"/>
              </a:ext>
            </a:extLst>
          </p:cNvPr>
          <p:cNvSpPr>
            <a:spLocks noGrp="1"/>
          </p:cNvSpPr>
          <p:nvPr/>
        </p:nvSpPr>
        <p:spPr>
          <a:xfrm>
            <a:off x="2724150" y="2095500"/>
            <a:ext cx="1790700" cy="876300"/>
          </a:xfrm>
          <a:prstGeom prst="rect">
            <a:avLst/>
          </a:prstGeom>
          <a:solidFill>
            <a:srgbClr val="DDF3F7"/>
          </a:solidFill>
          <a:ln w="9525">
            <a:solidFill>
              <a:srgbClr val="0891B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20F5CA4-D345-4FA1-A72F-B53E60E6E8C7}"/>
              </a:ext>
            </a:extLst>
          </p:cNvPr>
          <p:cNvSpPr>
            <a:spLocks noGrp="1"/>
          </p:cNvSpPr>
          <p:nvPr/>
        </p:nvSpPr>
        <p:spPr>
          <a:xfrm>
            <a:off x="2828925" y="2143125"/>
            <a:ext cx="2076450" cy="3238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1275" b="1" i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DeepSeek </a:t>
            </a:r>
            <a:r>
              <a:rPr lang="en-US" altLang="zh-CN" sz="1275" b="1" i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V4</a:t>
            </a:r>
            <a:r>
              <a:rPr lang="zh-CN" altLang="en-US" sz="1275" b="1" i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lang="en-US" altLang="zh-CN" sz="1275" b="1" i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Flash</a:t>
            </a:r>
          </a:p>
          <a:p>
            <a:pPr algn="l">
              <a:lnSpc>
                <a:spcPct val="112000"/>
              </a:lnSpc>
              <a:buNone/>
              <a:defRPr sz="1275" b="1" i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1275" b="1" i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275" b="1" i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LLM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EDC31A0-C9C9-41AE-A437-58F4C965EFA7}"/>
              </a:ext>
            </a:extLst>
          </p:cNvPr>
          <p:cNvSpPr>
            <a:spLocks noGrp="1"/>
          </p:cNvSpPr>
          <p:nvPr/>
        </p:nvSpPr>
        <p:spPr>
          <a:xfrm>
            <a:off x="3267075" y="2524125"/>
            <a:ext cx="1209675" cy="4000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900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tool calling</a:t>
            </a:r>
          </a:p>
          <a:p>
            <a:pPr algn="l">
              <a:lnSpc>
                <a:spcPct val="118000"/>
              </a:lnSpc>
              <a:buNone/>
              <a:defRPr sz="900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自然语言 -&gt; 查询工具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F52AD38-9459-43D4-A84B-7F12A3BB0CC8}"/>
              </a:ext>
            </a:extLst>
          </p:cNvPr>
          <p:cNvSpPr>
            <a:spLocks noGrp="1"/>
          </p:cNvSpPr>
          <p:nvPr/>
        </p:nvSpPr>
        <p:spPr>
          <a:xfrm>
            <a:off x="5029200" y="2095500"/>
            <a:ext cx="179070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1F94D37-9269-4998-9709-F01D3CCE164A}"/>
              </a:ext>
            </a:extLst>
          </p:cNvPr>
          <p:cNvSpPr>
            <a:spLocks noGrp="1"/>
          </p:cNvSpPr>
          <p:nvPr/>
        </p:nvSpPr>
        <p:spPr>
          <a:xfrm>
            <a:off x="5181600" y="2228850"/>
            <a:ext cx="1485900" cy="247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1275" b="1" i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chain_query.py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7908D22-AFBF-4858-9EB5-5FD454D7CD57}"/>
              </a:ext>
            </a:extLst>
          </p:cNvPr>
          <p:cNvSpPr>
            <a:spLocks noGrp="1"/>
          </p:cNvSpPr>
          <p:nvPr/>
        </p:nvSpPr>
        <p:spPr>
          <a:xfrm>
            <a:off x="5181600" y="2505075"/>
            <a:ext cx="1485900" cy="4000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900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x402HttpxClient</a:t>
            </a:r>
          </a:p>
          <a:p>
            <a:pPr algn="l">
              <a:lnSpc>
                <a:spcPct val="118000"/>
              </a:lnSpc>
              <a:buNone/>
              <a:defRPr sz="900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每次查询 0.01 USDC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19A58B8-4AAB-4415-884C-139B2172BA7D}"/>
              </a:ext>
            </a:extLst>
          </p:cNvPr>
          <p:cNvSpPr>
            <a:spLocks noGrp="1"/>
          </p:cNvSpPr>
          <p:nvPr/>
        </p:nvSpPr>
        <p:spPr>
          <a:xfrm>
            <a:off x="7334250" y="2095500"/>
            <a:ext cx="1885950" cy="876300"/>
          </a:xfrm>
          <a:prstGeom prst="rect">
            <a:avLst/>
          </a:prstGeom>
          <a:solidFill>
            <a:srgbClr val="FBE7C6"/>
          </a:solidFill>
          <a:ln w="9525">
            <a:solidFill>
              <a:srgbClr val="D97706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848C07B-2FF0-48A6-9540-E7C440372B45}"/>
              </a:ext>
            </a:extLst>
          </p:cNvPr>
          <p:cNvSpPr>
            <a:spLocks noGrp="1"/>
          </p:cNvSpPr>
          <p:nvPr/>
        </p:nvSpPr>
        <p:spPr>
          <a:xfrm>
            <a:off x="7486650" y="2228850"/>
            <a:ext cx="1581150" cy="247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1275" b="1" i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ChainData API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24AC55A-5A2A-4691-BD1A-11BC4021B02C}"/>
              </a:ext>
            </a:extLst>
          </p:cNvPr>
          <p:cNvSpPr>
            <a:spLocks noGrp="1"/>
          </p:cNvSpPr>
          <p:nvPr/>
        </p:nvSpPr>
        <p:spPr>
          <a:xfrm>
            <a:off x="7486650" y="2505075"/>
            <a:ext cx="1581150" cy="4000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900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FastAPI + x402</a:t>
            </a:r>
          </a:p>
          <a:p>
            <a:pPr algn="l">
              <a:lnSpc>
                <a:spcPct val="118000"/>
              </a:lnSpc>
              <a:buNone/>
              <a:defRPr sz="900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收费中间件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F8E7B05-B843-4AC0-BD1C-F2CA685F0C7E}"/>
              </a:ext>
            </a:extLst>
          </p:cNvPr>
          <p:cNvSpPr>
            <a:spLocks noGrp="1"/>
          </p:cNvSpPr>
          <p:nvPr/>
        </p:nvSpPr>
        <p:spPr>
          <a:xfrm>
            <a:off x="9810750" y="2095500"/>
            <a:ext cx="161925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A8F81EB-9C02-423F-9E8C-807DDFCD3F60}"/>
              </a:ext>
            </a:extLst>
          </p:cNvPr>
          <p:cNvSpPr>
            <a:spLocks noGrp="1"/>
          </p:cNvSpPr>
          <p:nvPr/>
        </p:nvSpPr>
        <p:spPr>
          <a:xfrm>
            <a:off x="9963150" y="2228850"/>
            <a:ext cx="1314450" cy="247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1275" b="1" i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真实数据源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5E46EA3-C807-4681-89D2-5B6AB1511337}"/>
              </a:ext>
            </a:extLst>
          </p:cNvPr>
          <p:cNvSpPr>
            <a:spLocks noGrp="1"/>
          </p:cNvSpPr>
          <p:nvPr/>
        </p:nvSpPr>
        <p:spPr>
          <a:xfrm>
            <a:off x="9963150" y="2468339"/>
            <a:ext cx="1314450" cy="4000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900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CoinGecko / RPC</a:t>
            </a:r>
          </a:p>
          <a:p>
            <a:pPr algn="l">
              <a:lnSpc>
                <a:spcPct val="118000"/>
              </a:lnSpc>
              <a:buNone/>
              <a:defRPr sz="900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DeFiLlama / Alternative.me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AD46348-98A4-4559-8EF9-8E1232A35D6F}"/>
              </a:ext>
            </a:extLst>
          </p:cNvPr>
          <p:cNvSpPr>
            <a:spLocks noGrp="1"/>
          </p:cNvSpPr>
          <p:nvPr/>
        </p:nvSpPr>
        <p:spPr>
          <a:xfrm>
            <a:off x="2209800" y="2533650"/>
            <a:ext cx="514350" cy="19050"/>
          </a:xfrm>
          <a:prstGeom prst="rect">
            <a:avLst/>
          </a:prstGeom>
          <a:solidFill>
            <a:srgbClr val="33415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587AB0B-6B40-4899-92CB-2A13D7698F68}"/>
              </a:ext>
            </a:extLst>
          </p:cNvPr>
          <p:cNvSpPr>
            <a:spLocks noGrp="1"/>
          </p:cNvSpPr>
          <p:nvPr/>
        </p:nvSpPr>
        <p:spPr>
          <a:xfrm>
            <a:off x="2547937" y="2452688"/>
            <a:ext cx="371475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975" b="1" i="0">
                <a:solidFill>
                  <a:srgbClr val="334155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334155"/>
                </a:solidFill>
                <a:latin typeface="Avenir Next"/>
                <a:ea typeface="Avenir Next"/>
                <a:cs typeface="Avenir Next"/>
              </a:rPr>
              <a:t>&gt;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BADF9D5-BBAB-4FFE-964E-2028BF835520}"/>
              </a:ext>
            </a:extLst>
          </p:cNvPr>
          <p:cNvSpPr>
            <a:spLocks noGrp="1"/>
          </p:cNvSpPr>
          <p:nvPr/>
        </p:nvSpPr>
        <p:spPr>
          <a:xfrm>
            <a:off x="2252663" y="2371725"/>
            <a:ext cx="38100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675" b="0" i="0">
                <a:solidFill>
                  <a:srgbClr val="334155"/>
                </a:solidFill>
                <a:latin typeface="Avenir Next"/>
                <a:ea typeface="Avenir Next"/>
                <a:cs typeface="Avenir Next"/>
              </a:defRPr>
            </a:pPr>
            <a:r>
              <a:rPr sz="675" b="0" i="0">
                <a:solidFill>
                  <a:srgbClr val="334155"/>
                </a:solidFill>
                <a:latin typeface="Avenir Next"/>
                <a:ea typeface="Avenir Next"/>
                <a:cs typeface="Avenir Next"/>
              </a:rPr>
              <a:t>prompt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281582E-17D4-434A-8056-1D90C504C087}"/>
              </a:ext>
            </a:extLst>
          </p:cNvPr>
          <p:cNvSpPr>
            <a:spLocks noGrp="1"/>
          </p:cNvSpPr>
          <p:nvPr/>
        </p:nvSpPr>
        <p:spPr>
          <a:xfrm>
            <a:off x="4514850" y="2533650"/>
            <a:ext cx="514350" cy="19050"/>
          </a:xfrm>
          <a:prstGeom prst="rect">
            <a:avLst/>
          </a:prstGeom>
          <a:solidFill>
            <a:srgbClr val="33415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F8624EA-F032-4D7E-8E52-BEC7AA6E777E}"/>
              </a:ext>
            </a:extLst>
          </p:cNvPr>
          <p:cNvSpPr>
            <a:spLocks noGrp="1"/>
          </p:cNvSpPr>
          <p:nvPr/>
        </p:nvSpPr>
        <p:spPr>
          <a:xfrm>
            <a:off x="4953000" y="2455070"/>
            <a:ext cx="171450" cy="32384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975" b="1" i="0">
                <a:solidFill>
                  <a:srgbClr val="334155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334155"/>
                </a:solidFill>
                <a:latin typeface="Avenir Next"/>
                <a:ea typeface="Avenir Next"/>
                <a:cs typeface="Avenir Next"/>
              </a:rPr>
              <a:t>&gt;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F83190E-7F66-46DC-8AEC-2A6966B79242}"/>
              </a:ext>
            </a:extLst>
          </p:cNvPr>
          <p:cNvSpPr>
            <a:spLocks noGrp="1"/>
          </p:cNvSpPr>
          <p:nvPr/>
        </p:nvSpPr>
        <p:spPr>
          <a:xfrm>
            <a:off x="4638675" y="2274875"/>
            <a:ext cx="22860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675" b="0" i="0">
                <a:solidFill>
                  <a:srgbClr val="334155"/>
                </a:solidFill>
                <a:latin typeface="Avenir Next"/>
                <a:ea typeface="Avenir Next"/>
                <a:cs typeface="Avenir Next"/>
              </a:defRPr>
            </a:pPr>
            <a:r>
              <a:rPr sz="675" b="0" i="0">
                <a:solidFill>
                  <a:srgbClr val="334155"/>
                </a:solidFill>
                <a:latin typeface="Avenir Next"/>
                <a:ea typeface="Avenir Next"/>
                <a:cs typeface="Avenir Next"/>
              </a:rPr>
              <a:t>tool call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54017A6-A434-4427-ADA3-08DB79DE2E7B}"/>
              </a:ext>
            </a:extLst>
          </p:cNvPr>
          <p:cNvSpPr>
            <a:spLocks noGrp="1"/>
          </p:cNvSpPr>
          <p:nvPr/>
        </p:nvSpPr>
        <p:spPr>
          <a:xfrm>
            <a:off x="6819900" y="2533650"/>
            <a:ext cx="514350" cy="19050"/>
          </a:xfrm>
          <a:prstGeom prst="rect">
            <a:avLst/>
          </a:prstGeom>
          <a:solidFill>
            <a:srgbClr val="33415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B128EF0-A887-4A25-A242-818366F7251A}"/>
              </a:ext>
            </a:extLst>
          </p:cNvPr>
          <p:cNvSpPr>
            <a:spLocks noGrp="1"/>
          </p:cNvSpPr>
          <p:nvPr/>
        </p:nvSpPr>
        <p:spPr>
          <a:xfrm>
            <a:off x="6728460" y="2593503"/>
            <a:ext cx="171450" cy="56197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975" b="1" i="0">
                <a:solidFill>
                  <a:srgbClr val="334155"/>
                </a:solidFill>
                <a:latin typeface="Avenir Next"/>
                <a:ea typeface="Avenir Next"/>
                <a:cs typeface="Avenir Next"/>
              </a:defRPr>
            </a:pPr>
            <a:r>
              <a:rPr lang="en-US" sz="975" b="1" i="0">
                <a:solidFill>
                  <a:srgbClr val="334155"/>
                </a:solidFill>
                <a:latin typeface="Avenir Next"/>
                <a:ea typeface="Avenir Next"/>
                <a:cs typeface="Avenir Next"/>
              </a:rPr>
              <a:t>&lt;</a:t>
            </a:r>
            <a:endParaRPr sz="975" b="1" i="0">
              <a:solidFill>
                <a:srgbClr val="334155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9B7C79C-1D2C-42CF-9B70-1F20C6E6A783}"/>
              </a:ext>
            </a:extLst>
          </p:cNvPr>
          <p:cNvSpPr>
            <a:spLocks noGrp="1"/>
          </p:cNvSpPr>
          <p:nvPr/>
        </p:nvSpPr>
        <p:spPr>
          <a:xfrm>
            <a:off x="6960394" y="2295421"/>
            <a:ext cx="22860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675" b="0" i="0">
                <a:solidFill>
                  <a:srgbClr val="334155"/>
                </a:solidFill>
                <a:latin typeface="Avenir Next"/>
                <a:ea typeface="Avenir Next"/>
                <a:cs typeface="Avenir Next"/>
              </a:defRPr>
            </a:pPr>
            <a:r>
              <a:rPr sz="675" b="0" i="0">
                <a:solidFill>
                  <a:srgbClr val="334155"/>
                </a:solidFill>
                <a:latin typeface="Avenir Next"/>
                <a:ea typeface="Avenir Next"/>
                <a:cs typeface="Avenir Next"/>
              </a:rPr>
              <a:t>HTTP GET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37671BA-4A7F-430D-AD9A-C21114749F9E}"/>
              </a:ext>
            </a:extLst>
          </p:cNvPr>
          <p:cNvSpPr>
            <a:spLocks noGrp="1"/>
          </p:cNvSpPr>
          <p:nvPr/>
        </p:nvSpPr>
        <p:spPr>
          <a:xfrm>
            <a:off x="9220200" y="2533650"/>
            <a:ext cx="590550" cy="19050"/>
          </a:xfrm>
          <a:prstGeom prst="rect">
            <a:avLst/>
          </a:prstGeom>
          <a:solidFill>
            <a:schemeClr val="accent6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6DD10AB-E445-4CE8-AFB7-5C152E728D38}"/>
              </a:ext>
            </a:extLst>
          </p:cNvPr>
          <p:cNvSpPr>
            <a:spLocks noGrp="1"/>
          </p:cNvSpPr>
          <p:nvPr/>
        </p:nvSpPr>
        <p:spPr>
          <a:xfrm>
            <a:off x="9691687" y="2454051"/>
            <a:ext cx="276225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975" b="1" i="0">
                <a:solidFill>
                  <a:srgbClr val="334155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chemeClr val="accent6"/>
                </a:solidFill>
                <a:latin typeface="Avenir Next"/>
                <a:ea typeface="Avenir Next"/>
                <a:cs typeface="Avenir Next"/>
              </a:rPr>
              <a:t>&gt;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174CA18-AF57-43C6-9BD9-6D861E41A9F8}"/>
              </a:ext>
            </a:extLst>
          </p:cNvPr>
          <p:cNvSpPr>
            <a:spLocks noGrp="1"/>
          </p:cNvSpPr>
          <p:nvPr/>
        </p:nvSpPr>
        <p:spPr>
          <a:xfrm>
            <a:off x="9365456" y="2371725"/>
            <a:ext cx="266700" cy="2667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675" b="0" i="0">
                <a:solidFill>
                  <a:srgbClr val="334155"/>
                </a:solidFill>
                <a:latin typeface="Avenir Next"/>
                <a:ea typeface="Avenir Next"/>
                <a:cs typeface="Avenir Next"/>
              </a:defRPr>
            </a:pPr>
            <a:r>
              <a:rPr sz="675" b="0" i="0">
                <a:solidFill>
                  <a:srgbClr val="334155"/>
                </a:solidFill>
                <a:latin typeface="Avenir Next"/>
                <a:ea typeface="Avenir Next"/>
                <a:cs typeface="Avenir Next"/>
              </a:rPr>
              <a:t>fetch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D49F22D-2079-4138-A996-5DD6CBA57180}"/>
              </a:ext>
            </a:extLst>
          </p:cNvPr>
          <p:cNvSpPr>
            <a:spLocks noGrp="1"/>
          </p:cNvSpPr>
          <p:nvPr/>
        </p:nvSpPr>
        <p:spPr>
          <a:xfrm>
            <a:off x="2777159" y="3817316"/>
            <a:ext cx="1885950" cy="876300"/>
          </a:xfrm>
          <a:prstGeom prst="rect">
            <a:avLst/>
          </a:prstGeom>
          <a:solidFill>
            <a:srgbClr val="DDEFE8"/>
          </a:solidFill>
          <a:ln w="9525">
            <a:solidFill>
              <a:srgbClr val="047857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BCBBB5C9-76A4-4578-A32D-BA846878BB45}"/>
              </a:ext>
            </a:extLst>
          </p:cNvPr>
          <p:cNvSpPr>
            <a:spLocks noGrp="1"/>
          </p:cNvSpPr>
          <p:nvPr/>
        </p:nvSpPr>
        <p:spPr>
          <a:xfrm>
            <a:off x="2929559" y="3950666"/>
            <a:ext cx="1581150" cy="247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1275" b="1" i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CawSigner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CDF1784-A5BC-479A-B96B-FE35AA5BB309}"/>
              </a:ext>
            </a:extLst>
          </p:cNvPr>
          <p:cNvSpPr>
            <a:spLocks noGrp="1"/>
          </p:cNvSpPr>
          <p:nvPr/>
        </p:nvSpPr>
        <p:spPr>
          <a:xfrm>
            <a:off x="2929559" y="4226891"/>
            <a:ext cx="1581150" cy="4000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900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EIP-712 typed data</a:t>
            </a:r>
          </a:p>
          <a:p>
            <a:pPr algn="l">
              <a:lnSpc>
                <a:spcPct val="118000"/>
              </a:lnSpc>
              <a:buNone/>
              <a:defRPr sz="900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message_sign 封装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EE4D608D-6FE0-4FBA-8A5C-AAB185817F26}"/>
              </a:ext>
            </a:extLst>
          </p:cNvPr>
          <p:cNvSpPr>
            <a:spLocks noGrp="1"/>
          </p:cNvSpPr>
          <p:nvPr/>
        </p:nvSpPr>
        <p:spPr>
          <a:xfrm>
            <a:off x="5310809" y="3817316"/>
            <a:ext cx="1981200" cy="876300"/>
          </a:xfrm>
          <a:prstGeom prst="rect">
            <a:avLst/>
          </a:prstGeom>
          <a:solidFill>
            <a:srgbClr val="DDEFE8"/>
          </a:solidFill>
          <a:ln w="9525">
            <a:solidFill>
              <a:srgbClr val="047857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9FACD6D-4718-41A2-A92F-10797B866526}"/>
              </a:ext>
            </a:extLst>
          </p:cNvPr>
          <p:cNvSpPr>
            <a:spLocks noGrp="1"/>
          </p:cNvSpPr>
          <p:nvPr/>
        </p:nvSpPr>
        <p:spPr>
          <a:xfrm>
            <a:off x="5463209" y="3950666"/>
            <a:ext cx="1676400" cy="247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1275" b="1" i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Cobo CAW Wallet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E2DA9FC-7DD1-4892-8CF4-36D121137F24}"/>
              </a:ext>
            </a:extLst>
          </p:cNvPr>
          <p:cNvSpPr>
            <a:spLocks noGrp="1"/>
          </p:cNvSpPr>
          <p:nvPr/>
        </p:nvSpPr>
        <p:spPr>
          <a:xfrm>
            <a:off x="5463209" y="4226891"/>
            <a:ext cx="1676400" cy="4000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900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MPC 策略签名</a:t>
            </a:r>
          </a:p>
          <a:p>
            <a:pPr algn="l">
              <a:lnSpc>
                <a:spcPct val="118000"/>
              </a:lnSpc>
              <a:buNone/>
              <a:defRPr sz="900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Pact 约束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C02B6E5-4122-4092-AB43-B7E351976909}"/>
              </a:ext>
            </a:extLst>
          </p:cNvPr>
          <p:cNvSpPr>
            <a:spLocks noGrp="1"/>
          </p:cNvSpPr>
          <p:nvPr/>
        </p:nvSpPr>
        <p:spPr>
          <a:xfrm>
            <a:off x="7920659" y="3817316"/>
            <a:ext cx="1885950" cy="876300"/>
          </a:xfrm>
          <a:prstGeom prst="rect">
            <a:avLst/>
          </a:prstGeom>
          <a:solidFill>
            <a:srgbClr val="F9D7DF"/>
          </a:solidFill>
          <a:ln w="9525">
            <a:solidFill>
              <a:srgbClr val="BE123C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59DFAF9F-DC74-4649-AB5B-23E936055A4B}"/>
              </a:ext>
            </a:extLst>
          </p:cNvPr>
          <p:cNvSpPr>
            <a:spLocks noGrp="1"/>
          </p:cNvSpPr>
          <p:nvPr/>
        </p:nvSpPr>
        <p:spPr>
          <a:xfrm>
            <a:off x="8073059" y="3950666"/>
            <a:ext cx="1581150" cy="247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1275" b="1" i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x402 Facilitator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92DCFBEE-6162-4BE5-A509-B4B612817D5E}"/>
              </a:ext>
            </a:extLst>
          </p:cNvPr>
          <p:cNvSpPr>
            <a:spLocks noGrp="1"/>
          </p:cNvSpPr>
          <p:nvPr/>
        </p:nvSpPr>
        <p:spPr>
          <a:xfrm>
            <a:off x="8073059" y="4226891"/>
            <a:ext cx="1581150" cy="4000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900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验证授权</a:t>
            </a:r>
          </a:p>
          <a:p>
            <a:pPr algn="l">
              <a:lnSpc>
                <a:spcPct val="118000"/>
              </a:lnSpc>
              <a:buNone/>
              <a:defRPr sz="900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执行 USDC 转账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C7D69D6B-0BC8-4DAC-92B8-14BDFB05EF15}"/>
              </a:ext>
            </a:extLst>
          </p:cNvPr>
          <p:cNvSpPr>
            <a:spLocks noGrp="1"/>
          </p:cNvSpPr>
          <p:nvPr/>
        </p:nvSpPr>
        <p:spPr>
          <a:xfrm>
            <a:off x="4667872" y="4207841"/>
            <a:ext cx="609600" cy="19050"/>
          </a:xfrm>
          <a:prstGeom prst="rect">
            <a:avLst/>
          </a:prstGeom>
          <a:solidFill>
            <a:srgbClr val="047857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87C74CEE-23B5-47B8-897E-2B890F210D15}"/>
              </a:ext>
            </a:extLst>
          </p:cNvPr>
          <p:cNvSpPr>
            <a:spLocks noGrp="1"/>
          </p:cNvSpPr>
          <p:nvPr/>
        </p:nvSpPr>
        <p:spPr>
          <a:xfrm>
            <a:off x="5213178" y="4132385"/>
            <a:ext cx="161925" cy="32469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975" b="1" i="0">
                <a:solidFill>
                  <a:srgbClr val="047857"/>
                </a:solidFill>
                <a:latin typeface="Avenir Next"/>
                <a:ea typeface="Avenir Next"/>
                <a:cs typeface="Avenir Next"/>
              </a:defRPr>
            </a:pPr>
            <a:r>
              <a:rPr lang="en-US" altLang="zh-CN" sz="975" b="1" i="0">
                <a:solidFill>
                  <a:srgbClr val="047857"/>
                </a:solidFill>
                <a:latin typeface="Avenir Next"/>
                <a:ea typeface="Avenir Next"/>
                <a:cs typeface="Avenir Next"/>
              </a:rPr>
              <a:t>&gt;</a:t>
            </a:r>
            <a:endParaRPr sz="975" b="1" i="0">
              <a:solidFill>
                <a:srgbClr val="047857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D483B249-0F17-484A-B845-F076C4E4C635}"/>
              </a:ext>
            </a:extLst>
          </p:cNvPr>
          <p:cNvSpPr>
            <a:spLocks noGrp="1"/>
          </p:cNvSpPr>
          <p:nvPr/>
        </p:nvSpPr>
        <p:spPr>
          <a:xfrm>
            <a:off x="4805984" y="3950666"/>
            <a:ext cx="28575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675" b="0" i="0">
                <a:solidFill>
                  <a:srgbClr val="047857"/>
                </a:solidFill>
                <a:latin typeface="Avenir Next"/>
                <a:ea typeface="Avenir Next"/>
                <a:cs typeface="Avenir Next"/>
              </a:defRPr>
            </a:pPr>
            <a:r>
              <a:rPr sz="675" b="0" i="0">
                <a:solidFill>
                  <a:srgbClr val="047857"/>
                </a:solidFill>
                <a:latin typeface="Avenir Next"/>
                <a:ea typeface="Avenir Next"/>
                <a:cs typeface="Avenir Next"/>
              </a:rPr>
              <a:t>MPC sign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50EB4BC5-01A6-4710-8196-A8F0A08BB3B4}"/>
              </a:ext>
            </a:extLst>
          </p:cNvPr>
          <p:cNvSpPr>
            <a:spLocks noGrp="1"/>
          </p:cNvSpPr>
          <p:nvPr/>
        </p:nvSpPr>
        <p:spPr>
          <a:xfrm>
            <a:off x="7292009" y="4339707"/>
            <a:ext cx="628650" cy="19050"/>
          </a:xfrm>
          <a:prstGeom prst="rect">
            <a:avLst/>
          </a:prstGeom>
          <a:solidFill>
            <a:srgbClr val="BE123C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A05CE9F5-66AE-48B1-851A-1D1E0B078F29}"/>
              </a:ext>
            </a:extLst>
          </p:cNvPr>
          <p:cNvSpPr>
            <a:spLocks noGrp="1"/>
          </p:cNvSpPr>
          <p:nvPr/>
        </p:nvSpPr>
        <p:spPr>
          <a:xfrm>
            <a:off x="7853984" y="4266644"/>
            <a:ext cx="17145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975" b="1" i="0">
                <a:solidFill>
                  <a:srgbClr val="BE123C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BE123C"/>
                </a:solidFill>
                <a:latin typeface="Avenir Next"/>
                <a:ea typeface="Avenir Next"/>
                <a:cs typeface="Avenir Next"/>
              </a:rPr>
              <a:t>&gt;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50557282-A772-41C3-B8E4-216B42DF017E}"/>
              </a:ext>
            </a:extLst>
          </p:cNvPr>
          <p:cNvSpPr>
            <a:spLocks noGrp="1"/>
          </p:cNvSpPr>
          <p:nvPr/>
        </p:nvSpPr>
        <p:spPr>
          <a:xfrm>
            <a:off x="7453934" y="4371353"/>
            <a:ext cx="30480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675" b="0" i="0">
                <a:solidFill>
                  <a:srgbClr val="BE123C"/>
                </a:solidFill>
                <a:latin typeface="Avenir Next"/>
                <a:ea typeface="Avenir Next"/>
                <a:cs typeface="Avenir Next"/>
              </a:defRPr>
            </a:pPr>
            <a:r>
              <a:rPr sz="675" b="0" i="0">
                <a:solidFill>
                  <a:srgbClr val="BE123C"/>
                </a:solidFill>
                <a:latin typeface="Avenir Next"/>
                <a:ea typeface="Avenir Next"/>
                <a:cs typeface="Avenir Next"/>
              </a:rPr>
              <a:t>settle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A9C571BB-6C42-4813-B7A7-F7471A74D79C}"/>
              </a:ext>
            </a:extLst>
          </p:cNvPr>
          <p:cNvSpPr>
            <a:spLocks noGrp="1"/>
          </p:cNvSpPr>
          <p:nvPr/>
        </p:nvSpPr>
        <p:spPr>
          <a:xfrm>
            <a:off x="5886450" y="2971800"/>
            <a:ext cx="19050" cy="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3059074E-F34D-420F-862A-29B3D48F220B}"/>
              </a:ext>
            </a:extLst>
          </p:cNvPr>
          <p:cNvSpPr>
            <a:spLocks noGrp="1"/>
          </p:cNvSpPr>
          <p:nvPr/>
        </p:nvSpPr>
        <p:spPr>
          <a:xfrm>
            <a:off x="3735457" y="3245816"/>
            <a:ext cx="125730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defRPr sz="675" b="0" i="0">
                <a:solidFill>
                  <a:srgbClr val="047857"/>
                </a:solidFill>
                <a:latin typeface="Avenir Next"/>
                <a:ea typeface="Avenir Next"/>
                <a:cs typeface="Avenir Next"/>
              </a:defRPr>
            </a:pPr>
            <a:r>
              <a:rPr lang="en-US" altLang="zh-CN" sz="675">
                <a:solidFill>
                  <a:srgbClr val="C00000"/>
                </a:solidFill>
                <a:latin typeface="Avenir Next"/>
                <a:ea typeface="Avenir Next"/>
                <a:cs typeface="Avenir Next"/>
              </a:rPr>
              <a:t>P</a:t>
            </a:r>
            <a:r>
              <a:rPr sz="675" b="0" i="0">
                <a:solidFill>
                  <a:srgbClr val="C00000"/>
                </a:solidFill>
                <a:latin typeface="Avenir Next"/>
                <a:ea typeface="Avenir Next"/>
                <a:cs typeface="Avenir Next"/>
              </a:rPr>
              <a:t>ayment </a:t>
            </a:r>
            <a:r>
              <a:rPr lang="en" altLang="zh-CN" sz="675">
                <a:solidFill>
                  <a:srgbClr val="C00000"/>
                </a:solidFill>
                <a:latin typeface="Avenir Next"/>
              </a:rPr>
              <a:t>Requirement</a:t>
            </a:r>
          </a:p>
          <a:p>
            <a:pPr algn="l">
              <a:lnSpc>
                <a:spcPct val="112000"/>
              </a:lnSpc>
              <a:buNone/>
              <a:defRPr sz="675" b="0" i="0">
                <a:solidFill>
                  <a:srgbClr val="047857"/>
                </a:solidFill>
                <a:latin typeface="Avenir Next"/>
                <a:ea typeface="Avenir Next"/>
                <a:cs typeface="Avenir Next"/>
              </a:defRPr>
            </a:pPr>
            <a:endParaRPr sz="675" b="0" i="0">
              <a:solidFill>
                <a:srgbClr val="C00000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1A988CEE-7DA4-40E8-BE26-8B08F99DCB39}"/>
              </a:ext>
            </a:extLst>
          </p:cNvPr>
          <p:cNvSpPr>
            <a:spLocks noGrp="1"/>
          </p:cNvSpPr>
          <p:nvPr/>
        </p:nvSpPr>
        <p:spPr>
          <a:xfrm>
            <a:off x="7292009" y="4129702"/>
            <a:ext cx="628650" cy="19050"/>
          </a:xfrm>
          <a:prstGeom prst="rect">
            <a:avLst/>
          </a:prstGeom>
          <a:solidFill>
            <a:srgbClr val="BE123C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B3313982-A710-4C4D-96A5-E15733CF5468}"/>
              </a:ext>
            </a:extLst>
          </p:cNvPr>
          <p:cNvSpPr>
            <a:spLocks noGrp="1"/>
          </p:cNvSpPr>
          <p:nvPr/>
        </p:nvSpPr>
        <p:spPr>
          <a:xfrm>
            <a:off x="7196759" y="4055441"/>
            <a:ext cx="161925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975" b="1" i="0">
                <a:solidFill>
                  <a:srgbClr val="BE123C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BE123C"/>
                </a:solidFill>
                <a:latin typeface="Avenir Next"/>
                <a:ea typeface="Avenir Next"/>
                <a:cs typeface="Avenir Next"/>
              </a:rPr>
              <a:t>&lt;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DF4465D6-C9AA-4766-82B0-054E56D37011}"/>
              </a:ext>
            </a:extLst>
          </p:cNvPr>
          <p:cNvSpPr>
            <a:spLocks noGrp="1"/>
          </p:cNvSpPr>
          <p:nvPr/>
        </p:nvSpPr>
        <p:spPr>
          <a:xfrm>
            <a:off x="7139609" y="3978447"/>
            <a:ext cx="95250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675" b="0" i="0">
                <a:solidFill>
                  <a:srgbClr val="BE123C"/>
                </a:solidFill>
                <a:latin typeface="Avenir Next"/>
                <a:ea typeface="Avenir Next"/>
                <a:cs typeface="Avenir Next"/>
              </a:defRPr>
            </a:pPr>
            <a:r>
              <a:rPr sz="675" b="0" i="0">
                <a:solidFill>
                  <a:srgbClr val="BE123C"/>
                </a:solidFill>
                <a:latin typeface="Avenir Next"/>
                <a:ea typeface="Avenir Next"/>
                <a:cs typeface="Avenir Next"/>
              </a:rPr>
              <a:t>authorization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24D6C939-BA7B-467F-9BEC-5E082E3FBBDF}"/>
              </a:ext>
            </a:extLst>
          </p:cNvPr>
          <p:cNvSpPr>
            <a:spLocks noGrp="1"/>
          </p:cNvSpPr>
          <p:nvPr/>
        </p:nvSpPr>
        <p:spPr>
          <a:xfrm>
            <a:off x="685800" y="5543550"/>
            <a:ext cx="10287000" cy="361950"/>
          </a:xfrm>
          <a:prstGeom prst="rect">
            <a:avLst/>
          </a:prstGeom>
          <a:solidFill>
            <a:srgbClr val="111827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B5635060-228E-4A22-8EEA-8F9B2D10F6A9}"/>
              </a:ext>
            </a:extLst>
          </p:cNvPr>
          <p:cNvSpPr>
            <a:spLocks noGrp="1"/>
          </p:cNvSpPr>
          <p:nvPr/>
        </p:nvSpPr>
        <p:spPr>
          <a:xfrm>
            <a:off x="914400" y="5638800"/>
            <a:ext cx="97155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12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关键边界：LLM 决定“需要哪些数据”；支付层决定“是否能签名并结算”；服务端只在 x402 验证通过后返回数据。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52D1FB42-B525-495B-9E18-EA2C6240F774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819150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750" b="0" i="0">
                <a:solidFill>
                  <a:srgbClr val="64748B"/>
                </a:solidFill>
                <a:latin typeface="Avenir Next"/>
                <a:ea typeface="Avenir Next"/>
                <a:cs typeface="Avenir Next"/>
              </a:defRPr>
            </a:pPr>
            <a:endParaRPr sz="750" b="0" i="0">
              <a:solidFill>
                <a:srgbClr val="64748B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CA7F8E50-5271-4E2B-A66E-5C04F8D66679}"/>
              </a:ext>
            </a:extLst>
          </p:cNvPr>
          <p:cNvSpPr>
            <a:spLocks noGrp="1"/>
          </p:cNvSpPr>
          <p:nvPr/>
        </p:nvSpPr>
        <p:spPr>
          <a:xfrm>
            <a:off x="11334750" y="6400800"/>
            <a:ext cx="400050" cy="209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2000"/>
              </a:lnSpc>
              <a:buNone/>
              <a:defRPr sz="900" b="0" i="0">
                <a:solidFill>
                  <a:srgbClr val="64748B"/>
                </a:solidFill>
                <a:latin typeface="Avenir Next"/>
                <a:ea typeface="Avenir Next"/>
                <a:cs typeface="Avenir Next"/>
              </a:defRPr>
            </a:pPr>
            <a:r>
              <a:rPr sz="900" b="0" i="0">
                <a:solidFill>
                  <a:srgbClr val="64748B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EC7DC7C5-8D6A-2C8F-B948-ABE348620395}"/>
              </a:ext>
            </a:extLst>
          </p:cNvPr>
          <p:cNvSpPr>
            <a:spLocks noGrp="1"/>
          </p:cNvSpPr>
          <p:nvPr/>
        </p:nvSpPr>
        <p:spPr>
          <a:xfrm>
            <a:off x="6821805" y="2667000"/>
            <a:ext cx="514350" cy="19050"/>
          </a:xfrm>
          <a:prstGeom prst="rect">
            <a:avLst/>
          </a:prstGeom>
          <a:solidFill>
            <a:srgbClr val="33415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D5904714-B1A6-C407-02CC-3D0C45F3AC4C}"/>
              </a:ext>
            </a:extLst>
          </p:cNvPr>
          <p:cNvSpPr>
            <a:spLocks noGrp="1"/>
          </p:cNvSpPr>
          <p:nvPr/>
        </p:nvSpPr>
        <p:spPr>
          <a:xfrm>
            <a:off x="7084219" y="2193595"/>
            <a:ext cx="22860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675" b="0" i="0">
                <a:solidFill>
                  <a:srgbClr val="334155"/>
                </a:solidFill>
                <a:latin typeface="Avenir Next"/>
                <a:ea typeface="Avenir Next"/>
                <a:cs typeface="Avenir Next"/>
              </a:defRPr>
            </a:pPr>
            <a:endParaRPr sz="675" b="0" i="0">
              <a:solidFill>
                <a:srgbClr val="334155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33DB721B-A2F3-751B-570A-F7A69DCB9328}"/>
              </a:ext>
            </a:extLst>
          </p:cNvPr>
          <p:cNvSpPr>
            <a:spLocks noGrp="1"/>
          </p:cNvSpPr>
          <p:nvPr/>
        </p:nvSpPr>
        <p:spPr>
          <a:xfrm>
            <a:off x="7264241" y="2460764"/>
            <a:ext cx="171450" cy="32384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975" b="1" i="0">
                <a:solidFill>
                  <a:srgbClr val="334155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334155"/>
                </a:solidFill>
                <a:latin typeface="Avenir Next"/>
                <a:ea typeface="Avenir Next"/>
                <a:cs typeface="Avenir Next"/>
              </a:rPr>
              <a:t>&gt;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9E1A69C2-EA9B-8206-075F-9232C0C8EBC9}"/>
              </a:ext>
            </a:extLst>
          </p:cNvPr>
          <p:cNvSpPr>
            <a:spLocks noGrp="1"/>
          </p:cNvSpPr>
          <p:nvPr/>
        </p:nvSpPr>
        <p:spPr>
          <a:xfrm>
            <a:off x="6870858" y="2728892"/>
            <a:ext cx="419907" cy="26195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defRPr sz="675" b="0" i="0">
                <a:solidFill>
                  <a:srgbClr val="334155"/>
                </a:solidFill>
                <a:latin typeface="Avenir Next"/>
                <a:ea typeface="Avenir Next"/>
                <a:cs typeface="Avenir Next"/>
              </a:defRPr>
            </a:pPr>
            <a:r>
              <a:rPr lang="en-US" sz="675" b="0" i="0">
                <a:solidFill>
                  <a:srgbClr val="334155"/>
                </a:solidFill>
                <a:latin typeface="Avenir Next"/>
                <a:ea typeface="Avenir Next"/>
                <a:cs typeface="Avenir Next"/>
              </a:rPr>
              <a:t>402 Payment</a:t>
            </a:r>
            <a:br>
              <a:rPr lang="en-US" sz="675" b="0" i="0">
                <a:solidFill>
                  <a:srgbClr val="334155"/>
                </a:solidFill>
                <a:latin typeface="Avenir Next"/>
                <a:ea typeface="Avenir Next"/>
                <a:cs typeface="Avenir Next"/>
              </a:rPr>
            </a:br>
            <a:r>
              <a:rPr lang="en" altLang="zh-CN" sz="675"/>
              <a:t>Required</a:t>
            </a:r>
          </a:p>
          <a:p>
            <a:pPr algn="ctr">
              <a:lnSpc>
                <a:spcPct val="112000"/>
              </a:lnSpc>
              <a:buNone/>
              <a:defRPr sz="675" b="0" i="0">
                <a:solidFill>
                  <a:srgbClr val="334155"/>
                </a:solidFill>
                <a:latin typeface="Avenir Next"/>
                <a:ea typeface="Avenir Next"/>
                <a:cs typeface="Avenir Next"/>
              </a:defRPr>
            </a:pPr>
            <a:endParaRPr sz="675" b="0" i="0">
              <a:solidFill>
                <a:srgbClr val="334155"/>
              </a:solidFill>
              <a:latin typeface="Avenir Next"/>
              <a:ea typeface="Avenir Next"/>
              <a:cs typeface="Avenir Next"/>
            </a:endParaRPr>
          </a:p>
        </p:txBody>
      </p:sp>
      <p:cxnSp>
        <p:nvCxnSpPr>
          <p:cNvPr id="74" name="肘形连接符 73">
            <a:extLst>
              <a:ext uri="{FF2B5EF4-FFF2-40B4-BE49-F238E27FC236}">
                <a16:creationId xmlns:a16="http://schemas.microsoft.com/office/drawing/2014/main" id="{2CB8D000-2DBD-BBDC-34AF-B65E3FBB84A5}"/>
              </a:ext>
            </a:extLst>
          </p:cNvPr>
          <p:cNvCxnSpPr>
            <a:cxnSpLocks/>
            <a:stCxn id="10" idx="2"/>
            <a:endCxn id="31" idx="0"/>
          </p:cNvCxnSpPr>
          <p:nvPr/>
        </p:nvCxnSpPr>
        <p:spPr>
          <a:xfrm rot="5400000">
            <a:off x="4399584" y="2292350"/>
            <a:ext cx="845516" cy="2204416"/>
          </a:xfrm>
          <a:prstGeom prst="bentConnector3">
            <a:avLst>
              <a:gd name="adj1" fmla="val 50000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肘形连接符 79">
            <a:extLst>
              <a:ext uri="{FF2B5EF4-FFF2-40B4-BE49-F238E27FC236}">
                <a16:creationId xmlns:a16="http://schemas.microsoft.com/office/drawing/2014/main" id="{8D46591B-5042-3F15-B13E-7CB561BCA471}"/>
              </a:ext>
            </a:extLst>
          </p:cNvPr>
          <p:cNvCxnSpPr>
            <a:cxnSpLocks/>
            <a:stCxn id="37" idx="0"/>
            <a:endCxn id="10" idx="2"/>
          </p:cNvCxnSpPr>
          <p:nvPr/>
        </p:nvCxnSpPr>
        <p:spPr>
          <a:xfrm rot="16200000" flipV="1">
            <a:off x="6971334" y="1925016"/>
            <a:ext cx="845516" cy="2939084"/>
          </a:xfrm>
          <a:prstGeom prst="bentConnector3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矩形 82">
            <a:extLst>
              <a:ext uri="{FF2B5EF4-FFF2-40B4-BE49-F238E27FC236}">
                <a16:creationId xmlns:a16="http://schemas.microsoft.com/office/drawing/2014/main" id="{7CBB1B0C-5A6C-A987-B84C-B1EB68D6818E}"/>
              </a:ext>
            </a:extLst>
          </p:cNvPr>
          <p:cNvSpPr>
            <a:spLocks noGrp="1"/>
          </p:cNvSpPr>
          <p:nvPr/>
        </p:nvSpPr>
        <p:spPr>
          <a:xfrm>
            <a:off x="7920659" y="3249338"/>
            <a:ext cx="937591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" altLang="zh-CN" sz="675">
                <a:solidFill>
                  <a:srgbClr val="047857"/>
                </a:solidFill>
                <a:latin typeface="Avenir Next"/>
              </a:rPr>
              <a:t>txHash</a:t>
            </a:r>
            <a:r>
              <a:rPr lang="en" altLang="zh-CN" sz="800"/>
              <a:t> / </a:t>
            </a:r>
            <a:r>
              <a:rPr lang="en" altLang="zh-CN" sz="675">
                <a:solidFill>
                  <a:srgbClr val="047857"/>
                </a:solidFill>
                <a:latin typeface="Avenir Next"/>
              </a:rPr>
              <a:t>Payment</a:t>
            </a:r>
            <a:r>
              <a:rPr lang="en" altLang="zh-CN" sz="800"/>
              <a:t> </a:t>
            </a:r>
            <a:r>
              <a:rPr lang="en" altLang="zh-CN" sz="675">
                <a:solidFill>
                  <a:srgbClr val="047857"/>
                </a:solidFill>
                <a:latin typeface="Avenir Next"/>
              </a:rPr>
              <a:t>Proof</a:t>
            </a:r>
          </a:p>
        </p:txBody>
      </p:sp>
      <p:cxnSp>
        <p:nvCxnSpPr>
          <p:cNvPr id="87" name="肘形连接符 86">
            <a:extLst>
              <a:ext uri="{FF2B5EF4-FFF2-40B4-BE49-F238E27FC236}">
                <a16:creationId xmlns:a16="http://schemas.microsoft.com/office/drawing/2014/main" id="{85C6FA24-5518-10B2-4F36-2DD2C5C5EA13}"/>
              </a:ext>
            </a:extLst>
          </p:cNvPr>
          <p:cNvCxnSpPr>
            <a:cxnSpLocks/>
            <a:stCxn id="10" idx="0"/>
            <a:endCxn id="13" idx="0"/>
          </p:cNvCxnSpPr>
          <p:nvPr/>
        </p:nvCxnSpPr>
        <p:spPr>
          <a:xfrm rot="5400000" flipH="1" flipV="1">
            <a:off x="7100887" y="919163"/>
            <a:ext cx="12700" cy="2352675"/>
          </a:xfrm>
          <a:prstGeom prst="bentConnector3">
            <a:avLst>
              <a:gd name="adj1" fmla="val 2820898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矩形 92">
            <a:extLst>
              <a:ext uri="{FF2B5EF4-FFF2-40B4-BE49-F238E27FC236}">
                <a16:creationId xmlns:a16="http://schemas.microsoft.com/office/drawing/2014/main" id="{85666E60-93AC-78BF-E265-C6E1FF712239}"/>
              </a:ext>
            </a:extLst>
          </p:cNvPr>
          <p:cNvSpPr>
            <a:spLocks noGrp="1"/>
          </p:cNvSpPr>
          <p:nvPr/>
        </p:nvSpPr>
        <p:spPr>
          <a:xfrm>
            <a:off x="5924550" y="1584808"/>
            <a:ext cx="576714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" altLang="zh-CN" sz="675">
                <a:solidFill>
                  <a:srgbClr val="047857"/>
                </a:solidFill>
                <a:latin typeface="Avenir Next"/>
              </a:rPr>
              <a:t>Retry</a:t>
            </a:r>
            <a:r>
              <a:rPr lang="en" altLang="zh-CN" sz="800"/>
              <a:t> </a:t>
            </a:r>
            <a:r>
              <a:rPr lang="en" altLang="zh-CN" sz="675">
                <a:solidFill>
                  <a:srgbClr val="047857"/>
                </a:solidFill>
                <a:latin typeface="Avenir Next"/>
              </a:rPr>
              <a:t>Request</a:t>
            </a:r>
          </a:p>
        </p:txBody>
      </p:sp>
    </p:spTree>
    <p:extLst>
      <p:ext uri="{BB962C8B-B14F-4D97-AF65-F5344CB8AC3E}">
        <p14:creationId xmlns:p14="http://schemas.microsoft.com/office/powerpoint/2010/main" val="1074021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kicker-marker">
            <a:extLst>
              <a:ext uri="{FF2B5EF4-FFF2-40B4-BE49-F238E27FC236}">
                <a16:creationId xmlns:a16="http://schemas.microsoft.com/office/drawing/2014/main" id="{CE99B909-EE5B-46F1-AAEA-1F7110F9A57B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85725" cy="85725"/>
          </a:xfrm>
          <a:prstGeom prst="rect">
            <a:avLst/>
          </a:prstGeom>
          <a:solidFill>
            <a:srgbClr val="0891B2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" name="kicker-label">
            <a:extLst>
              <a:ext uri="{FF2B5EF4-FFF2-40B4-BE49-F238E27FC236}">
                <a16:creationId xmlns:a16="http://schemas.microsoft.com/office/drawing/2014/main" id="{D104F691-8806-4575-9C98-CE458DD67A7B}"/>
              </a:ext>
            </a:extLst>
          </p:cNvPr>
          <p:cNvSpPr>
            <a:spLocks noGrp="1"/>
          </p:cNvSpPr>
          <p:nvPr/>
        </p:nvSpPr>
        <p:spPr>
          <a:xfrm>
            <a:off x="876300" y="409575"/>
            <a:ext cx="4381500" cy="2476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2000"/>
              </a:lnSpc>
              <a:buNone/>
              <a:defRPr sz="975" b="1" i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PROTOCOL FLOW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40EA358-F0D2-42F8-986F-229BDF30BE94}"/>
              </a:ext>
            </a:extLst>
          </p:cNvPr>
          <p:cNvSpPr>
            <a:spLocks noGrp="1"/>
          </p:cNvSpPr>
          <p:nvPr/>
        </p:nvSpPr>
        <p:spPr>
          <a:xfrm>
            <a:off x="685799" y="781050"/>
            <a:ext cx="10483645" cy="990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2625" b="1" i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 i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x402 把一次 HTTP 402 响应转化为 EIP-3009 的 USDC 授权转</a:t>
            </a:r>
            <a:r>
              <a:rPr lang="zh-CN" altLang="en-US" sz="2625" b="1" i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账</a:t>
            </a:r>
            <a:r>
              <a:rPr sz="2625" b="1" i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D1749AE-A37A-4F95-A2BD-1CA683330F37}"/>
              </a:ext>
            </a:extLst>
          </p:cNvPr>
          <p:cNvSpPr>
            <a:spLocks noGrp="1"/>
          </p:cNvSpPr>
          <p:nvPr/>
        </p:nvSpPr>
        <p:spPr>
          <a:xfrm>
            <a:off x="685800" y="2381250"/>
            <a:ext cx="1371600" cy="12001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37BAF48-BA7C-4216-AA55-EBD18DCD8605}"/>
              </a:ext>
            </a:extLst>
          </p:cNvPr>
          <p:cNvSpPr>
            <a:spLocks noGrp="1"/>
          </p:cNvSpPr>
          <p:nvPr/>
        </p:nvSpPr>
        <p:spPr>
          <a:xfrm>
            <a:off x="838737" y="2556863"/>
            <a:ext cx="1143000" cy="2667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1200" b="1" i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1. 请求数据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F829CDE-826E-47DA-B31A-6D27EAB075E0}"/>
              </a:ext>
            </a:extLst>
          </p:cNvPr>
          <p:cNvSpPr>
            <a:spLocks noGrp="1"/>
          </p:cNvSpPr>
          <p:nvPr/>
        </p:nvSpPr>
        <p:spPr>
          <a:xfrm>
            <a:off x="838737" y="2919412"/>
            <a:ext cx="11430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buNone/>
              <a:defRPr sz="975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Agent 发起 GET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2F8A943-CB3D-446A-B752-DD90510E7FDA}"/>
              </a:ext>
            </a:extLst>
          </p:cNvPr>
          <p:cNvSpPr>
            <a:spLocks noGrp="1"/>
          </p:cNvSpPr>
          <p:nvPr/>
        </p:nvSpPr>
        <p:spPr>
          <a:xfrm>
            <a:off x="2057400" y="2986750"/>
            <a:ext cx="533400" cy="19050"/>
          </a:xfrm>
          <a:prstGeom prst="rect">
            <a:avLst/>
          </a:prstGeom>
          <a:solidFill>
            <a:srgbClr val="33415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9BD324A-626D-434C-981C-208A94F18113}"/>
              </a:ext>
            </a:extLst>
          </p:cNvPr>
          <p:cNvSpPr>
            <a:spLocks noGrp="1"/>
          </p:cNvSpPr>
          <p:nvPr/>
        </p:nvSpPr>
        <p:spPr>
          <a:xfrm>
            <a:off x="2524125" y="2919412"/>
            <a:ext cx="171450" cy="23812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975" b="1" i="0">
                <a:solidFill>
                  <a:srgbClr val="334155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334155"/>
                </a:solidFill>
                <a:latin typeface="Avenir Next"/>
                <a:ea typeface="Avenir Next"/>
                <a:cs typeface="Avenir Next"/>
              </a:rPr>
              <a:t>&gt;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D719784-9924-40C4-8C33-9C9DBD030FE3}"/>
              </a:ext>
            </a:extLst>
          </p:cNvPr>
          <p:cNvSpPr>
            <a:spLocks noGrp="1"/>
          </p:cNvSpPr>
          <p:nvPr/>
        </p:nvSpPr>
        <p:spPr>
          <a:xfrm>
            <a:off x="2638425" y="2403454"/>
            <a:ext cx="1371600" cy="1200150"/>
          </a:xfrm>
          <a:prstGeom prst="rect">
            <a:avLst/>
          </a:prstGeom>
          <a:solidFill>
            <a:srgbClr val="FBE7C6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188B8B8-E858-4BF0-AC35-C2ED4755B8B4}"/>
              </a:ext>
            </a:extLst>
          </p:cNvPr>
          <p:cNvSpPr>
            <a:spLocks noGrp="1"/>
          </p:cNvSpPr>
          <p:nvPr/>
        </p:nvSpPr>
        <p:spPr>
          <a:xfrm>
            <a:off x="2771775" y="2556863"/>
            <a:ext cx="1143000" cy="2667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1200" b="1" i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2. 返回 402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10A2936-A08C-4661-A244-ADBBC0FD589A}"/>
              </a:ext>
            </a:extLst>
          </p:cNvPr>
          <p:cNvSpPr>
            <a:spLocks noGrp="1"/>
          </p:cNvSpPr>
          <p:nvPr/>
        </p:nvSpPr>
        <p:spPr>
          <a:xfrm>
            <a:off x="2771775" y="2886075"/>
            <a:ext cx="11430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buNone/>
              <a:defRPr sz="975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服务端给出支付规格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7FDDBA2-3AF9-409B-8401-E5B16C58820A}"/>
              </a:ext>
            </a:extLst>
          </p:cNvPr>
          <p:cNvSpPr>
            <a:spLocks noGrp="1"/>
          </p:cNvSpPr>
          <p:nvPr/>
        </p:nvSpPr>
        <p:spPr>
          <a:xfrm>
            <a:off x="4005262" y="2990850"/>
            <a:ext cx="533400" cy="19050"/>
          </a:xfrm>
          <a:prstGeom prst="rect">
            <a:avLst/>
          </a:prstGeom>
          <a:solidFill>
            <a:srgbClr val="33415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16FF76B-3E24-452B-9B78-CFB56350F86C}"/>
              </a:ext>
            </a:extLst>
          </p:cNvPr>
          <p:cNvSpPr>
            <a:spLocks noGrp="1"/>
          </p:cNvSpPr>
          <p:nvPr/>
        </p:nvSpPr>
        <p:spPr>
          <a:xfrm>
            <a:off x="4476750" y="2919412"/>
            <a:ext cx="171450" cy="2667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975" b="1" i="0">
                <a:solidFill>
                  <a:srgbClr val="334155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334155"/>
                </a:solidFill>
                <a:latin typeface="Avenir Next"/>
                <a:ea typeface="Avenir Next"/>
                <a:cs typeface="Avenir Next"/>
              </a:rPr>
              <a:t>&gt;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F3AA58F-4EB5-40AA-8F86-BBDCB7C3E20E}"/>
              </a:ext>
            </a:extLst>
          </p:cNvPr>
          <p:cNvSpPr>
            <a:spLocks noGrp="1"/>
          </p:cNvSpPr>
          <p:nvPr/>
        </p:nvSpPr>
        <p:spPr>
          <a:xfrm>
            <a:off x="4591050" y="2409825"/>
            <a:ext cx="1371600" cy="1200150"/>
          </a:xfrm>
          <a:prstGeom prst="rect">
            <a:avLst/>
          </a:prstGeom>
          <a:solidFill>
            <a:srgbClr val="DDEFE8"/>
          </a:solidFill>
          <a:ln w="9525">
            <a:solidFill>
              <a:srgbClr val="047857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4F60484-BE57-4EB7-A6DF-7084DC007B06}"/>
              </a:ext>
            </a:extLst>
          </p:cNvPr>
          <p:cNvSpPr>
            <a:spLocks noGrp="1"/>
          </p:cNvSpPr>
          <p:nvPr/>
        </p:nvSpPr>
        <p:spPr>
          <a:xfrm>
            <a:off x="4743450" y="2552700"/>
            <a:ext cx="1143000" cy="2667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1200" b="1" i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3. MPC 签名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C67E80B-F48A-4A65-ACBA-ECA0B507FE9C}"/>
              </a:ext>
            </a:extLst>
          </p:cNvPr>
          <p:cNvSpPr>
            <a:spLocks noGrp="1"/>
          </p:cNvSpPr>
          <p:nvPr/>
        </p:nvSpPr>
        <p:spPr>
          <a:xfrm>
            <a:off x="4743450" y="2952750"/>
            <a:ext cx="11430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buNone/>
              <a:defRPr sz="975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CAW 签 EIP-712 typed-data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55466BB-54B8-463D-B7EB-81443D4051B9}"/>
              </a:ext>
            </a:extLst>
          </p:cNvPr>
          <p:cNvSpPr>
            <a:spLocks noGrp="1"/>
          </p:cNvSpPr>
          <p:nvPr/>
        </p:nvSpPr>
        <p:spPr>
          <a:xfrm>
            <a:off x="5962652" y="2990219"/>
            <a:ext cx="533400" cy="19050"/>
          </a:xfrm>
          <a:prstGeom prst="rect">
            <a:avLst/>
          </a:prstGeom>
          <a:solidFill>
            <a:srgbClr val="33415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6290D4B-2E56-4568-99D1-893383746BF3}"/>
              </a:ext>
            </a:extLst>
          </p:cNvPr>
          <p:cNvSpPr>
            <a:spLocks noGrp="1"/>
          </p:cNvSpPr>
          <p:nvPr/>
        </p:nvSpPr>
        <p:spPr>
          <a:xfrm>
            <a:off x="6429377" y="2916720"/>
            <a:ext cx="171450" cy="2571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975" b="1" i="0">
                <a:solidFill>
                  <a:srgbClr val="334155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334155"/>
                </a:solidFill>
                <a:latin typeface="Avenir Next"/>
                <a:ea typeface="Avenir Next"/>
                <a:cs typeface="Avenir Next"/>
              </a:rPr>
              <a:t>&gt;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0C88005-368C-45A1-8A95-98D69C489744}"/>
              </a:ext>
            </a:extLst>
          </p:cNvPr>
          <p:cNvSpPr>
            <a:spLocks noGrp="1"/>
          </p:cNvSpPr>
          <p:nvPr/>
        </p:nvSpPr>
        <p:spPr>
          <a:xfrm>
            <a:off x="6543675" y="2371725"/>
            <a:ext cx="1371600" cy="12001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C665DAC-BF6E-4095-A0C5-DCA3A2FCDF07}"/>
              </a:ext>
            </a:extLst>
          </p:cNvPr>
          <p:cNvSpPr>
            <a:spLocks noGrp="1"/>
          </p:cNvSpPr>
          <p:nvPr/>
        </p:nvSpPr>
        <p:spPr>
          <a:xfrm>
            <a:off x="6648450" y="2552700"/>
            <a:ext cx="1143000" cy="2667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1200" b="1" i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4. 携带授权重试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2D7D205-AF42-435E-B276-8A9B7781B9B9}"/>
              </a:ext>
            </a:extLst>
          </p:cNvPr>
          <p:cNvSpPr>
            <a:spLocks noGrp="1"/>
          </p:cNvSpPr>
          <p:nvPr/>
        </p:nvSpPr>
        <p:spPr>
          <a:xfrm>
            <a:off x="6648450" y="2952750"/>
            <a:ext cx="11430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buNone/>
              <a:defRPr sz="975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X-PAYMENT header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5E24C2A-7911-4863-92D5-175C463EA23C}"/>
              </a:ext>
            </a:extLst>
          </p:cNvPr>
          <p:cNvSpPr>
            <a:spLocks noGrp="1"/>
          </p:cNvSpPr>
          <p:nvPr/>
        </p:nvSpPr>
        <p:spPr>
          <a:xfrm>
            <a:off x="7915275" y="2990219"/>
            <a:ext cx="533400" cy="19050"/>
          </a:xfrm>
          <a:prstGeom prst="rect">
            <a:avLst/>
          </a:prstGeom>
          <a:solidFill>
            <a:srgbClr val="33415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366EB6A-BD07-4E2C-8523-8A2FFE8E9115}"/>
              </a:ext>
            </a:extLst>
          </p:cNvPr>
          <p:cNvSpPr>
            <a:spLocks noGrp="1"/>
          </p:cNvSpPr>
          <p:nvPr/>
        </p:nvSpPr>
        <p:spPr>
          <a:xfrm>
            <a:off x="8372475" y="2916720"/>
            <a:ext cx="17145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975" b="1" i="0">
                <a:solidFill>
                  <a:srgbClr val="334155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334155"/>
                </a:solidFill>
                <a:latin typeface="Avenir Next"/>
                <a:ea typeface="Avenir Next"/>
                <a:cs typeface="Avenir Next"/>
              </a:rPr>
              <a:t>&gt;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F638964-CD06-4545-ADEC-005AA2C2AAF6}"/>
              </a:ext>
            </a:extLst>
          </p:cNvPr>
          <p:cNvSpPr>
            <a:spLocks noGrp="1"/>
          </p:cNvSpPr>
          <p:nvPr/>
        </p:nvSpPr>
        <p:spPr>
          <a:xfrm>
            <a:off x="8491538" y="2379428"/>
            <a:ext cx="1371600" cy="1200150"/>
          </a:xfrm>
          <a:prstGeom prst="rect">
            <a:avLst/>
          </a:prstGeom>
          <a:solidFill>
            <a:srgbClr val="F9D7DF"/>
          </a:solidFill>
          <a:ln w="9525">
            <a:solidFill>
              <a:srgbClr val="BE123C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D2E3314-D820-4DF9-B795-B9A6B7EFA3D8}"/>
              </a:ext>
            </a:extLst>
          </p:cNvPr>
          <p:cNvSpPr>
            <a:spLocks noGrp="1"/>
          </p:cNvSpPr>
          <p:nvPr/>
        </p:nvSpPr>
        <p:spPr>
          <a:xfrm>
            <a:off x="8553450" y="2552700"/>
            <a:ext cx="1143000" cy="2667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1200" b="1" i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5. 验证并结算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A271458-DFA1-4B7F-BC65-06ACA1A358DB}"/>
              </a:ext>
            </a:extLst>
          </p:cNvPr>
          <p:cNvSpPr>
            <a:spLocks noGrp="1"/>
          </p:cNvSpPr>
          <p:nvPr/>
        </p:nvSpPr>
        <p:spPr>
          <a:xfrm>
            <a:off x="8553450" y="2952750"/>
            <a:ext cx="11430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buNone/>
              <a:defRPr sz="975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Facilitator 执行转账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EAED19C-E0A8-4354-9CFB-5EFD9241788A}"/>
              </a:ext>
            </a:extLst>
          </p:cNvPr>
          <p:cNvSpPr>
            <a:spLocks noGrp="1"/>
          </p:cNvSpPr>
          <p:nvPr/>
        </p:nvSpPr>
        <p:spPr>
          <a:xfrm>
            <a:off x="9863138" y="2984479"/>
            <a:ext cx="533400" cy="19050"/>
          </a:xfrm>
          <a:prstGeom prst="rect">
            <a:avLst/>
          </a:prstGeom>
          <a:solidFill>
            <a:srgbClr val="33415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35B63B9-B0B3-4BE8-B49C-A0F704AE3A1D}"/>
              </a:ext>
            </a:extLst>
          </p:cNvPr>
          <p:cNvSpPr>
            <a:spLocks noGrp="1"/>
          </p:cNvSpPr>
          <p:nvPr/>
        </p:nvSpPr>
        <p:spPr>
          <a:xfrm>
            <a:off x="10320338" y="2909789"/>
            <a:ext cx="174394" cy="2063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975" b="1" i="0">
                <a:solidFill>
                  <a:srgbClr val="334155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334155"/>
                </a:solidFill>
                <a:latin typeface="Avenir Next"/>
                <a:ea typeface="Avenir Next"/>
                <a:cs typeface="Avenir Next"/>
              </a:rPr>
              <a:t>&gt;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1AD5AEE-0A52-4560-8E2B-3721AF0F2C7E}"/>
              </a:ext>
            </a:extLst>
          </p:cNvPr>
          <p:cNvSpPr>
            <a:spLocks noGrp="1"/>
          </p:cNvSpPr>
          <p:nvPr/>
        </p:nvSpPr>
        <p:spPr>
          <a:xfrm>
            <a:off x="10448925" y="2393929"/>
            <a:ext cx="1371600" cy="1200150"/>
          </a:xfrm>
          <a:prstGeom prst="rect">
            <a:avLst/>
          </a:prstGeom>
          <a:solidFill>
            <a:srgbClr val="DDF3F7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1F50617-6172-4BCA-8F9B-DADCFE97B012}"/>
              </a:ext>
            </a:extLst>
          </p:cNvPr>
          <p:cNvSpPr>
            <a:spLocks noGrp="1"/>
          </p:cNvSpPr>
          <p:nvPr/>
        </p:nvSpPr>
        <p:spPr>
          <a:xfrm>
            <a:off x="10527062" y="2548115"/>
            <a:ext cx="1143000" cy="2667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1200" b="1" i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6. 返回数据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44CE455-9940-41FB-A037-7830E0D409AE}"/>
              </a:ext>
            </a:extLst>
          </p:cNvPr>
          <p:cNvSpPr>
            <a:spLocks noGrp="1"/>
          </p:cNvSpPr>
          <p:nvPr/>
        </p:nvSpPr>
        <p:spPr>
          <a:xfrm>
            <a:off x="10527062" y="2919412"/>
            <a:ext cx="11430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buNone/>
              <a:defRPr sz="975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真实链上/市场数据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281F9FA-AEBE-4B65-BD19-479075F0AF23}"/>
              </a:ext>
            </a:extLst>
          </p:cNvPr>
          <p:cNvSpPr>
            <a:spLocks noGrp="1"/>
          </p:cNvSpPr>
          <p:nvPr/>
        </p:nvSpPr>
        <p:spPr>
          <a:xfrm>
            <a:off x="1047750" y="4343400"/>
            <a:ext cx="9715500" cy="8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1D014592-FEB7-4959-86E7-A06F2805D551}"/>
              </a:ext>
            </a:extLst>
          </p:cNvPr>
          <p:cNvSpPr>
            <a:spLocks noGrp="1"/>
          </p:cNvSpPr>
          <p:nvPr/>
        </p:nvSpPr>
        <p:spPr>
          <a:xfrm>
            <a:off x="1295400" y="4552950"/>
            <a:ext cx="2571750" cy="247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1425" b="1" i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i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为什么不是直接调用合约？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E370AA92-BAD3-4250-A268-53A828B79C9D}"/>
              </a:ext>
            </a:extLst>
          </p:cNvPr>
          <p:cNvSpPr>
            <a:spLocks noGrp="1"/>
          </p:cNvSpPr>
          <p:nvPr/>
        </p:nvSpPr>
        <p:spPr>
          <a:xfrm>
            <a:off x="3962400" y="4495800"/>
            <a:ext cx="657225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  <a:defRPr sz="1350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EIP-3009 将“签名授权”和“链上转账”拆开：Agent 不需要 ETH gas，服务端仍能通过 Facilitator 验证支付后放行，交易哈希可在 Basescan 查验。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7ABBBF0-C506-4C54-970F-AFAFB2383280}"/>
              </a:ext>
            </a:extLst>
          </p:cNvPr>
          <p:cNvSpPr>
            <a:spLocks noGrp="1"/>
          </p:cNvSpPr>
          <p:nvPr/>
        </p:nvSpPr>
        <p:spPr>
          <a:xfrm>
            <a:off x="1047750" y="5524500"/>
            <a:ext cx="9715500" cy="247650"/>
          </a:xfrm>
          <a:prstGeom prst="rect">
            <a:avLst/>
          </a:prstGeom>
          <a:solidFill>
            <a:srgbClr val="111827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9ADC99E5-C73A-4F06-B918-BB4A2AD7DAC4}"/>
              </a:ext>
            </a:extLst>
          </p:cNvPr>
          <p:cNvSpPr>
            <a:spLocks noGrp="1"/>
          </p:cNvSpPr>
          <p:nvPr/>
        </p:nvSpPr>
        <p:spPr>
          <a:xfrm>
            <a:off x="1295400" y="5572125"/>
            <a:ext cx="7810500" cy="152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10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每次查询 = 一次独立 nonce + 一次签名授权 + 一笔 0.01 USDC 结算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24689E16-BA2A-41DD-B7A2-1D61919E86EE}"/>
              </a:ext>
            </a:extLst>
          </p:cNvPr>
          <p:cNvSpPr>
            <a:spLocks noGrp="1"/>
          </p:cNvSpPr>
          <p:nvPr/>
        </p:nvSpPr>
        <p:spPr>
          <a:xfrm>
            <a:off x="11334750" y="6400800"/>
            <a:ext cx="400050" cy="209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2000"/>
              </a:lnSpc>
              <a:buNone/>
              <a:defRPr sz="900" b="0" i="0">
                <a:solidFill>
                  <a:srgbClr val="64748B"/>
                </a:solidFill>
                <a:latin typeface="Avenir Next"/>
                <a:ea typeface="Avenir Next"/>
                <a:cs typeface="Avenir Next"/>
              </a:defRPr>
            </a:pPr>
            <a:r>
              <a:rPr sz="900" b="0" i="0">
                <a:solidFill>
                  <a:srgbClr val="64748B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27882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kicker-marker">
            <a:extLst>
              <a:ext uri="{FF2B5EF4-FFF2-40B4-BE49-F238E27FC236}">
                <a16:creationId xmlns:a16="http://schemas.microsoft.com/office/drawing/2014/main" id="{BC216F49-8985-4F0E-A2DD-52B611FB40CA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85725" cy="85725"/>
          </a:xfrm>
          <a:prstGeom prst="rect">
            <a:avLst/>
          </a:prstGeom>
          <a:solidFill>
            <a:srgbClr val="0891B2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" name="kicker-label">
            <a:extLst>
              <a:ext uri="{FF2B5EF4-FFF2-40B4-BE49-F238E27FC236}">
                <a16:creationId xmlns:a16="http://schemas.microsoft.com/office/drawing/2014/main" id="{C5F84AD1-3B44-4779-A1D0-0ED51773B7E3}"/>
              </a:ext>
            </a:extLst>
          </p:cNvPr>
          <p:cNvSpPr>
            <a:spLocks noGrp="1"/>
          </p:cNvSpPr>
          <p:nvPr/>
        </p:nvSpPr>
        <p:spPr>
          <a:xfrm>
            <a:off x="876300" y="409575"/>
            <a:ext cx="4381500" cy="2476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2000"/>
              </a:lnSpc>
              <a:buNone/>
              <a:defRPr sz="975" b="1" i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DEMO SURFACE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DB38BFA-6108-47CA-A1F6-BD93EEE56F12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096500" cy="990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2625" b="1" i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 i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六类数据产品共用同一个 x402 支付原语，证明机制可横向复用。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AE58854-10A1-4445-AAC5-5BE2430EF97D}"/>
              </a:ext>
            </a:extLst>
          </p:cNvPr>
          <p:cNvSpPr>
            <a:spLocks noGrp="1"/>
          </p:cNvSpPr>
          <p:nvPr/>
        </p:nvSpPr>
        <p:spPr>
          <a:xfrm>
            <a:off x="771525" y="1666875"/>
            <a:ext cx="10363200" cy="457200"/>
          </a:xfrm>
          <a:prstGeom prst="rect">
            <a:avLst/>
          </a:prstGeom>
          <a:solidFill>
            <a:srgbClr val="111827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F3E7360-4883-4F64-9470-74A44725E01A}"/>
              </a:ext>
            </a:extLst>
          </p:cNvPr>
          <p:cNvSpPr>
            <a:spLocks noGrp="1"/>
          </p:cNvSpPr>
          <p:nvPr/>
        </p:nvSpPr>
        <p:spPr>
          <a:xfrm>
            <a:off x="1000125" y="1809750"/>
            <a:ext cx="152400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Tool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2B3C341-B744-46E5-92F3-DE4BF6392DC4}"/>
              </a:ext>
            </a:extLst>
          </p:cNvPr>
          <p:cNvSpPr>
            <a:spLocks noGrp="1"/>
          </p:cNvSpPr>
          <p:nvPr/>
        </p:nvSpPr>
        <p:spPr>
          <a:xfrm>
            <a:off x="2867025" y="1809750"/>
            <a:ext cx="409575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Capability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EA41B68-93CF-4A33-B5CF-CD2466AD33ED}"/>
              </a:ext>
            </a:extLst>
          </p:cNvPr>
          <p:cNvSpPr>
            <a:spLocks noGrp="1"/>
          </p:cNvSpPr>
          <p:nvPr/>
        </p:nvSpPr>
        <p:spPr>
          <a:xfrm>
            <a:off x="7477125" y="1809750"/>
            <a:ext cx="171450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Data source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C18682B-FB0F-4299-82E2-11230F87FEFB}"/>
              </a:ext>
            </a:extLst>
          </p:cNvPr>
          <p:cNvSpPr>
            <a:spLocks noGrp="1"/>
          </p:cNvSpPr>
          <p:nvPr/>
        </p:nvSpPr>
        <p:spPr>
          <a:xfrm>
            <a:off x="9629775" y="1809750"/>
            <a:ext cx="114300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Payment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A74AF46-8140-4D5F-A7BB-8C070E5E5B35}"/>
              </a:ext>
            </a:extLst>
          </p:cNvPr>
          <p:cNvSpPr>
            <a:spLocks noGrp="1"/>
          </p:cNvSpPr>
          <p:nvPr/>
        </p:nvSpPr>
        <p:spPr>
          <a:xfrm>
            <a:off x="771525" y="2124075"/>
            <a:ext cx="10363200" cy="590550"/>
          </a:xfrm>
          <a:prstGeom prst="rect">
            <a:avLst/>
          </a:prstGeom>
          <a:solidFill>
            <a:srgbClr val="FBFAF6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488B2BF-A2C6-4E19-A5E5-8BF172DE19A1}"/>
              </a:ext>
            </a:extLst>
          </p:cNvPr>
          <p:cNvSpPr>
            <a:spLocks noGrp="1"/>
          </p:cNvSpPr>
          <p:nvPr/>
        </p:nvSpPr>
        <p:spPr>
          <a:xfrm>
            <a:off x="1000125" y="2314575"/>
            <a:ext cx="1524000" cy="209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1125" b="1" i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Token Price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D6EFD0C-C667-41DE-A07C-39B5307FE540}"/>
              </a:ext>
            </a:extLst>
          </p:cNvPr>
          <p:cNvSpPr>
            <a:spLocks noGrp="1"/>
          </p:cNvSpPr>
          <p:nvPr/>
        </p:nvSpPr>
        <p:spPr>
          <a:xfrm>
            <a:off x="2867025" y="2295525"/>
            <a:ext cx="409575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1125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37 种代币美元价格 + 24h 涨跌幅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1BD5781-F8AD-475B-B456-71FCDEF26F86}"/>
              </a:ext>
            </a:extLst>
          </p:cNvPr>
          <p:cNvSpPr>
            <a:spLocks noGrp="1"/>
          </p:cNvSpPr>
          <p:nvPr/>
        </p:nvSpPr>
        <p:spPr>
          <a:xfrm>
            <a:off x="7477125" y="2295525"/>
            <a:ext cx="1714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1125" b="0" i="0">
                <a:solidFill>
                  <a:srgbClr val="334155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334155"/>
                </a:solidFill>
                <a:latin typeface="Avenir Next"/>
                <a:ea typeface="Avenir Next"/>
                <a:cs typeface="Avenir Next"/>
              </a:rPr>
              <a:t>CoinGecko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F07FD8C-B02C-41DB-8BF6-2EAFB9C9FC61}"/>
              </a:ext>
            </a:extLst>
          </p:cNvPr>
          <p:cNvSpPr>
            <a:spLocks noGrp="1"/>
          </p:cNvSpPr>
          <p:nvPr/>
        </p:nvSpPr>
        <p:spPr>
          <a:xfrm>
            <a:off x="9629775" y="2276475"/>
            <a:ext cx="76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1350" b="1" i="0">
                <a:solidFill>
                  <a:srgbClr val="0891B2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0891B2"/>
                </a:solidFill>
                <a:latin typeface="Avenir Next"/>
                <a:ea typeface="Avenir Next"/>
                <a:cs typeface="Avenir Next"/>
              </a:rPr>
              <a:t>$0.01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0C2EC85-0A14-4733-A17C-23824CE10359}"/>
              </a:ext>
            </a:extLst>
          </p:cNvPr>
          <p:cNvSpPr>
            <a:spLocks noGrp="1"/>
          </p:cNvSpPr>
          <p:nvPr/>
        </p:nvSpPr>
        <p:spPr>
          <a:xfrm>
            <a:off x="771525" y="2714625"/>
            <a:ext cx="103632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C6EFAA0-5071-4977-9423-E246C6CC59CA}"/>
              </a:ext>
            </a:extLst>
          </p:cNvPr>
          <p:cNvSpPr>
            <a:spLocks noGrp="1"/>
          </p:cNvSpPr>
          <p:nvPr/>
        </p:nvSpPr>
        <p:spPr>
          <a:xfrm>
            <a:off x="1000125" y="2905125"/>
            <a:ext cx="1524000" cy="209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1125" b="1" i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Gas Price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7D489A3-32C1-42D9-9890-997247C8A9B3}"/>
              </a:ext>
            </a:extLst>
          </p:cNvPr>
          <p:cNvSpPr>
            <a:spLocks noGrp="1"/>
          </p:cNvSpPr>
          <p:nvPr/>
        </p:nvSpPr>
        <p:spPr>
          <a:xfrm>
            <a:off x="2867025" y="2886075"/>
            <a:ext cx="409575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1125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Base Sepolia gas / base fee / priority fee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E7FD615-61FF-4A1D-9D22-969434C4C00E}"/>
              </a:ext>
            </a:extLst>
          </p:cNvPr>
          <p:cNvSpPr>
            <a:spLocks noGrp="1"/>
          </p:cNvSpPr>
          <p:nvPr/>
        </p:nvSpPr>
        <p:spPr>
          <a:xfrm>
            <a:off x="7477125" y="2886075"/>
            <a:ext cx="1714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1125" b="0" i="0">
                <a:solidFill>
                  <a:srgbClr val="334155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334155"/>
                </a:solidFill>
                <a:latin typeface="Avenir Next"/>
                <a:ea typeface="Avenir Next"/>
                <a:cs typeface="Avenir Next"/>
              </a:rPr>
              <a:t>公共 RPC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432D121-E7B7-4346-A3E1-9768B06ECDC2}"/>
              </a:ext>
            </a:extLst>
          </p:cNvPr>
          <p:cNvSpPr>
            <a:spLocks noGrp="1"/>
          </p:cNvSpPr>
          <p:nvPr/>
        </p:nvSpPr>
        <p:spPr>
          <a:xfrm>
            <a:off x="9629775" y="2867025"/>
            <a:ext cx="76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1350" b="1" i="0">
                <a:solidFill>
                  <a:srgbClr val="0891B2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0891B2"/>
                </a:solidFill>
                <a:latin typeface="Avenir Next"/>
                <a:ea typeface="Avenir Next"/>
                <a:cs typeface="Avenir Next"/>
              </a:rPr>
              <a:t>$0.01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118E57A-07ED-447D-9D5E-359095864CEE}"/>
              </a:ext>
            </a:extLst>
          </p:cNvPr>
          <p:cNvSpPr>
            <a:spLocks noGrp="1"/>
          </p:cNvSpPr>
          <p:nvPr/>
        </p:nvSpPr>
        <p:spPr>
          <a:xfrm>
            <a:off x="771525" y="3305175"/>
            <a:ext cx="10363200" cy="590550"/>
          </a:xfrm>
          <a:prstGeom prst="rect">
            <a:avLst/>
          </a:prstGeom>
          <a:solidFill>
            <a:srgbClr val="FBFAF6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E1DC5C6-31C2-4A77-98D6-B5EBA85D4AA3}"/>
              </a:ext>
            </a:extLst>
          </p:cNvPr>
          <p:cNvSpPr>
            <a:spLocks noGrp="1"/>
          </p:cNvSpPr>
          <p:nvPr/>
        </p:nvSpPr>
        <p:spPr>
          <a:xfrm>
            <a:off x="1000125" y="3495675"/>
            <a:ext cx="1524000" cy="209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1125" b="1" i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ETH Balance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E58AD23-03F2-44FE-9085-50DA57B671E2}"/>
              </a:ext>
            </a:extLst>
          </p:cNvPr>
          <p:cNvSpPr>
            <a:spLocks noGrp="1"/>
          </p:cNvSpPr>
          <p:nvPr/>
        </p:nvSpPr>
        <p:spPr>
          <a:xfrm>
            <a:off x="2867025" y="3476625"/>
            <a:ext cx="409575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1125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地址 ETH 余额及美元估值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2A6E83A-B490-453D-9F9F-382F95D5D41C}"/>
              </a:ext>
            </a:extLst>
          </p:cNvPr>
          <p:cNvSpPr>
            <a:spLocks noGrp="1"/>
          </p:cNvSpPr>
          <p:nvPr/>
        </p:nvSpPr>
        <p:spPr>
          <a:xfrm>
            <a:off x="7477125" y="3476625"/>
            <a:ext cx="1714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1125" b="0" i="0">
                <a:solidFill>
                  <a:srgbClr val="334155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334155"/>
                </a:solidFill>
                <a:latin typeface="Avenir Next"/>
                <a:ea typeface="Avenir Next"/>
                <a:cs typeface="Avenir Next"/>
              </a:rPr>
              <a:t>公共 RPC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618E3AF-BA79-4223-A594-1ED9B47C4B69}"/>
              </a:ext>
            </a:extLst>
          </p:cNvPr>
          <p:cNvSpPr>
            <a:spLocks noGrp="1"/>
          </p:cNvSpPr>
          <p:nvPr/>
        </p:nvSpPr>
        <p:spPr>
          <a:xfrm>
            <a:off x="9629775" y="3457575"/>
            <a:ext cx="76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1350" b="1" i="0">
                <a:solidFill>
                  <a:srgbClr val="0891B2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0891B2"/>
                </a:solidFill>
                <a:latin typeface="Avenir Next"/>
                <a:ea typeface="Avenir Next"/>
                <a:cs typeface="Avenir Next"/>
              </a:rPr>
              <a:t>$0.01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917444C-2F79-4E5E-980C-FED9F0427307}"/>
              </a:ext>
            </a:extLst>
          </p:cNvPr>
          <p:cNvSpPr>
            <a:spLocks noGrp="1"/>
          </p:cNvSpPr>
          <p:nvPr/>
        </p:nvSpPr>
        <p:spPr>
          <a:xfrm>
            <a:off x="771525" y="3895725"/>
            <a:ext cx="103632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2244676-065B-4A50-BCD9-19569FA56ED1}"/>
              </a:ext>
            </a:extLst>
          </p:cNvPr>
          <p:cNvSpPr>
            <a:spLocks noGrp="1"/>
          </p:cNvSpPr>
          <p:nvPr/>
        </p:nvSpPr>
        <p:spPr>
          <a:xfrm>
            <a:off x="1000125" y="4086225"/>
            <a:ext cx="1524000" cy="209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1125" b="1" i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USDC Balance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9906F16-0848-442B-AC57-58BE326DB057}"/>
              </a:ext>
            </a:extLst>
          </p:cNvPr>
          <p:cNvSpPr>
            <a:spLocks noGrp="1"/>
          </p:cNvSpPr>
          <p:nvPr/>
        </p:nvSpPr>
        <p:spPr>
          <a:xfrm>
            <a:off x="2867025" y="4067175"/>
            <a:ext cx="409575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1125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Base Sepolia ERC-20 USDC 余额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F163191-277A-4677-ACAC-085D5173AECC}"/>
              </a:ext>
            </a:extLst>
          </p:cNvPr>
          <p:cNvSpPr>
            <a:spLocks noGrp="1"/>
          </p:cNvSpPr>
          <p:nvPr/>
        </p:nvSpPr>
        <p:spPr>
          <a:xfrm>
            <a:off x="7477125" y="4067175"/>
            <a:ext cx="1714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1125" b="0" i="0">
                <a:solidFill>
                  <a:srgbClr val="334155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334155"/>
                </a:solidFill>
                <a:latin typeface="Avenir Next"/>
                <a:ea typeface="Avenir Next"/>
                <a:cs typeface="Avenir Next"/>
              </a:rPr>
              <a:t>公共 RPC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44F4DBD-F479-4313-A78F-20D050E780D2}"/>
              </a:ext>
            </a:extLst>
          </p:cNvPr>
          <p:cNvSpPr>
            <a:spLocks noGrp="1"/>
          </p:cNvSpPr>
          <p:nvPr/>
        </p:nvSpPr>
        <p:spPr>
          <a:xfrm>
            <a:off x="9629775" y="4048125"/>
            <a:ext cx="76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1350" b="1" i="0">
                <a:solidFill>
                  <a:srgbClr val="0891B2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0891B2"/>
                </a:solidFill>
                <a:latin typeface="Avenir Next"/>
                <a:ea typeface="Avenir Next"/>
                <a:cs typeface="Avenir Next"/>
              </a:rPr>
              <a:t>$0.01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B38BCBF-34C0-4B9C-A5E5-F58A44E18EB2}"/>
              </a:ext>
            </a:extLst>
          </p:cNvPr>
          <p:cNvSpPr>
            <a:spLocks noGrp="1"/>
          </p:cNvSpPr>
          <p:nvPr/>
        </p:nvSpPr>
        <p:spPr>
          <a:xfrm>
            <a:off x="771525" y="4486275"/>
            <a:ext cx="10363200" cy="590550"/>
          </a:xfrm>
          <a:prstGeom prst="rect">
            <a:avLst/>
          </a:prstGeom>
          <a:solidFill>
            <a:srgbClr val="FBFAF6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8261ACA-8AB8-48B1-A45B-366E640E010E}"/>
              </a:ext>
            </a:extLst>
          </p:cNvPr>
          <p:cNvSpPr>
            <a:spLocks noGrp="1"/>
          </p:cNvSpPr>
          <p:nvPr/>
        </p:nvSpPr>
        <p:spPr>
          <a:xfrm>
            <a:off x="1000125" y="4676775"/>
            <a:ext cx="1524000" cy="209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1125" b="1" i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DeFi TVL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328A48F-0237-4CBD-B2D1-C7AF00B12254}"/>
              </a:ext>
            </a:extLst>
          </p:cNvPr>
          <p:cNvSpPr>
            <a:spLocks noGrp="1"/>
          </p:cNvSpPr>
          <p:nvPr/>
        </p:nvSpPr>
        <p:spPr>
          <a:xfrm>
            <a:off x="2867025" y="4657725"/>
            <a:ext cx="409575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1125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12 个主流协议 TVL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8817956-9F6A-49E6-9176-F3EE53B51975}"/>
              </a:ext>
            </a:extLst>
          </p:cNvPr>
          <p:cNvSpPr>
            <a:spLocks noGrp="1"/>
          </p:cNvSpPr>
          <p:nvPr/>
        </p:nvSpPr>
        <p:spPr>
          <a:xfrm>
            <a:off x="7477125" y="4657725"/>
            <a:ext cx="1714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1125" b="0" i="0">
                <a:solidFill>
                  <a:srgbClr val="334155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334155"/>
                </a:solidFill>
                <a:latin typeface="Avenir Next"/>
                <a:ea typeface="Avenir Next"/>
                <a:cs typeface="Avenir Next"/>
              </a:rPr>
              <a:t>DeFiLlama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E504C4E-BE35-44B6-BE1B-8FC39AE327CC}"/>
              </a:ext>
            </a:extLst>
          </p:cNvPr>
          <p:cNvSpPr>
            <a:spLocks noGrp="1"/>
          </p:cNvSpPr>
          <p:nvPr/>
        </p:nvSpPr>
        <p:spPr>
          <a:xfrm>
            <a:off x="9629775" y="4638675"/>
            <a:ext cx="76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1350" b="1" i="0">
                <a:solidFill>
                  <a:srgbClr val="0891B2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0891B2"/>
                </a:solidFill>
                <a:latin typeface="Avenir Next"/>
                <a:ea typeface="Avenir Next"/>
                <a:cs typeface="Avenir Next"/>
              </a:rPr>
              <a:t>$0.01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0502650-FB38-4D58-AC2B-A7AD9B4D0B34}"/>
              </a:ext>
            </a:extLst>
          </p:cNvPr>
          <p:cNvSpPr>
            <a:spLocks noGrp="1"/>
          </p:cNvSpPr>
          <p:nvPr/>
        </p:nvSpPr>
        <p:spPr>
          <a:xfrm>
            <a:off x="771525" y="5076825"/>
            <a:ext cx="103632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69C327D-F326-4984-9780-8C20152229B1}"/>
              </a:ext>
            </a:extLst>
          </p:cNvPr>
          <p:cNvSpPr>
            <a:spLocks noGrp="1"/>
          </p:cNvSpPr>
          <p:nvPr/>
        </p:nvSpPr>
        <p:spPr>
          <a:xfrm>
            <a:off x="1000125" y="5267325"/>
            <a:ext cx="1524000" cy="209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1125" b="1" i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Fear &amp; Greed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704E1782-522F-4231-820C-D37E5EBEBEAB}"/>
              </a:ext>
            </a:extLst>
          </p:cNvPr>
          <p:cNvSpPr>
            <a:spLocks noGrp="1"/>
          </p:cNvSpPr>
          <p:nvPr/>
        </p:nvSpPr>
        <p:spPr>
          <a:xfrm>
            <a:off x="2867025" y="5248275"/>
            <a:ext cx="409575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1125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市场情绪指数 0-100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86A4E07C-2183-4479-B4D2-6B07C020F5DC}"/>
              </a:ext>
            </a:extLst>
          </p:cNvPr>
          <p:cNvSpPr>
            <a:spLocks noGrp="1"/>
          </p:cNvSpPr>
          <p:nvPr/>
        </p:nvSpPr>
        <p:spPr>
          <a:xfrm>
            <a:off x="7477125" y="5248275"/>
            <a:ext cx="1714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1125" b="0" i="0">
                <a:solidFill>
                  <a:srgbClr val="334155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334155"/>
                </a:solidFill>
                <a:latin typeface="Avenir Next"/>
                <a:ea typeface="Avenir Next"/>
                <a:cs typeface="Avenir Next"/>
              </a:rPr>
              <a:t>Alternative.me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0E1BB002-9579-4CE4-9438-590BD5FAA931}"/>
              </a:ext>
            </a:extLst>
          </p:cNvPr>
          <p:cNvSpPr>
            <a:spLocks noGrp="1"/>
          </p:cNvSpPr>
          <p:nvPr/>
        </p:nvSpPr>
        <p:spPr>
          <a:xfrm>
            <a:off x="9629775" y="5229225"/>
            <a:ext cx="76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1350" b="1" i="0">
                <a:solidFill>
                  <a:srgbClr val="0891B2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0891B2"/>
                </a:solidFill>
                <a:latin typeface="Avenir Next"/>
                <a:ea typeface="Avenir Next"/>
                <a:cs typeface="Avenir Next"/>
              </a:rPr>
              <a:t>$0.01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F0F6AD57-5816-474A-A2B4-441602333D7F}"/>
              </a:ext>
            </a:extLst>
          </p:cNvPr>
          <p:cNvSpPr>
            <a:spLocks noGrp="1"/>
          </p:cNvSpPr>
          <p:nvPr/>
        </p:nvSpPr>
        <p:spPr>
          <a:xfrm>
            <a:off x="1000125" y="5876925"/>
            <a:ext cx="952500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1350" b="1" i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LLM </a:t>
            </a:r>
            <a:r>
              <a:rPr sz="1350" b="1" i="0" err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层不需要知道支付细节：工具描述声明“每次调用自动支付</a:t>
            </a:r>
            <a:r>
              <a:rPr sz="1350" b="1" i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 0.01 USDC”，</a:t>
            </a:r>
            <a:r>
              <a:rPr sz="1350" b="1" i="0" err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真正的</a:t>
            </a:r>
            <a:r>
              <a:rPr sz="1350" b="1" i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 HTTP 402 </a:t>
            </a:r>
            <a:r>
              <a:rPr sz="1350" b="1" i="0" err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处理封装在</a:t>
            </a:r>
            <a:r>
              <a:rPr sz="1350" b="1" i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350" b="1" i="0" err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chain_query.py</a:t>
            </a:r>
            <a:r>
              <a:rPr sz="1350" b="1" i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83044F07-860D-430E-800D-AA9E6012AB19}"/>
              </a:ext>
            </a:extLst>
          </p:cNvPr>
          <p:cNvSpPr>
            <a:spLocks noGrp="1"/>
          </p:cNvSpPr>
          <p:nvPr/>
        </p:nvSpPr>
        <p:spPr>
          <a:xfrm>
            <a:off x="11334750" y="6400800"/>
            <a:ext cx="400050" cy="209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2000"/>
              </a:lnSpc>
              <a:buNone/>
              <a:defRPr sz="900" b="0" i="0">
                <a:solidFill>
                  <a:srgbClr val="64748B"/>
                </a:solidFill>
                <a:latin typeface="Avenir Next"/>
                <a:ea typeface="Avenir Next"/>
                <a:cs typeface="Avenir Next"/>
              </a:defRPr>
            </a:pPr>
            <a:r>
              <a:rPr sz="900" b="0" i="0">
                <a:solidFill>
                  <a:srgbClr val="64748B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337643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kicker-marker">
            <a:extLst>
              <a:ext uri="{FF2B5EF4-FFF2-40B4-BE49-F238E27FC236}">
                <a16:creationId xmlns:a16="http://schemas.microsoft.com/office/drawing/2014/main" id="{8B32AA89-B3D9-4759-9D79-B7F7339CBF1D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85725" cy="85725"/>
          </a:xfrm>
          <a:prstGeom prst="rect">
            <a:avLst/>
          </a:prstGeom>
          <a:solidFill>
            <a:srgbClr val="0891B2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" name="kicker-label">
            <a:extLst>
              <a:ext uri="{FF2B5EF4-FFF2-40B4-BE49-F238E27FC236}">
                <a16:creationId xmlns:a16="http://schemas.microsoft.com/office/drawing/2014/main" id="{249C9EC0-670D-4B84-B85F-6437651AA95C}"/>
              </a:ext>
            </a:extLst>
          </p:cNvPr>
          <p:cNvSpPr>
            <a:spLocks noGrp="1"/>
          </p:cNvSpPr>
          <p:nvPr/>
        </p:nvSpPr>
        <p:spPr>
          <a:xfrm>
            <a:off x="876300" y="409575"/>
            <a:ext cx="4381500" cy="2476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2000"/>
              </a:lnSpc>
              <a:buNone/>
              <a:defRPr sz="975" b="1" i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IMPLEMENTATION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4A509E2-101E-4B94-AA87-488D59DF71BE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096500" cy="990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2625" b="1" i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 i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真正的工程难点，是让 MPC 签名稳定嵌入异步工具调用循环。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5AA4D47-6434-4CD4-ACAC-D0CFD94835C5}"/>
              </a:ext>
            </a:extLst>
          </p:cNvPr>
          <p:cNvSpPr>
            <a:spLocks noGrp="1"/>
          </p:cNvSpPr>
          <p:nvPr/>
        </p:nvSpPr>
        <p:spPr>
          <a:xfrm>
            <a:off x="876300" y="2000250"/>
            <a:ext cx="962025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EC120C5-85F3-4E05-AE59-0993F83F39EF}"/>
              </a:ext>
            </a:extLst>
          </p:cNvPr>
          <p:cNvSpPr>
            <a:spLocks noGrp="1"/>
          </p:cNvSpPr>
          <p:nvPr/>
        </p:nvSpPr>
        <p:spPr>
          <a:xfrm>
            <a:off x="1066800" y="2209800"/>
            <a:ext cx="1162050" cy="247650"/>
          </a:xfrm>
          <a:prstGeom prst="rect">
            <a:avLst/>
          </a:prstGeom>
          <a:solidFill>
            <a:srgbClr val="DDF3F7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BF60A37-891F-4F7B-B0B0-92A953970DC4}"/>
              </a:ext>
            </a:extLst>
          </p:cNvPr>
          <p:cNvSpPr>
            <a:spLocks noGrp="1"/>
          </p:cNvSpPr>
          <p:nvPr/>
        </p:nvSpPr>
        <p:spPr>
          <a:xfrm>
            <a:off x="1143000" y="2247900"/>
            <a:ext cx="100965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825" b="1" i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balance bypass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91D2A6B-46B8-47BC-A682-7907E3820DF5}"/>
              </a:ext>
            </a:extLst>
          </p:cNvPr>
          <p:cNvSpPr>
            <a:spLocks noGrp="1"/>
          </p:cNvSpPr>
          <p:nvPr/>
        </p:nvSpPr>
        <p:spPr>
          <a:xfrm>
            <a:off x="2571750" y="2143125"/>
            <a:ext cx="2381250" cy="4381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1200" b="1" i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lang="en-US" altLang="zh-CN"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B</a:t>
            </a:r>
            <a:r>
              <a:rPr lang="en-US" altLang="zh-CN" sz="1200" b="1" i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ase</a:t>
            </a:r>
            <a:r>
              <a:rPr lang="zh-CN" altLang="en-US" sz="1200" b="1" i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lang="en-US" altLang="zh-CN" sz="1200" b="1" i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sepolia</a:t>
            </a:r>
            <a:r>
              <a:rPr lang="zh-CN" altLang="en-US" sz="1200" b="1" i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lang="en-US" altLang="zh-CN"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Testnet</a:t>
            </a:r>
            <a:r>
              <a:rPr lang="zh-CN" altLang="en-US"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lang="en-US" altLang="zh-CN"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USDC</a:t>
            </a:r>
            <a:r>
              <a:rPr lang="zh-CN" altLang="en-US" sz="1200" b="1" i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200" b="1" i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CAW 内部余额显示为 0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FE38270-6A26-4A1C-8B9A-3EB587866FE3}"/>
              </a:ext>
            </a:extLst>
          </p:cNvPr>
          <p:cNvSpPr>
            <a:spLocks noGrp="1"/>
          </p:cNvSpPr>
          <p:nvPr/>
        </p:nvSpPr>
        <p:spPr>
          <a:xfrm>
            <a:off x="5143500" y="2124075"/>
            <a:ext cx="4762500" cy="361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  <a:buNone/>
              <a:defRPr sz="1125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不用 payment() API；直接 message_sign typed-data，让 x402 Facilitator 读取链上余额。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4F37D2A-3A84-4842-B2A9-955300656F60}"/>
              </a:ext>
            </a:extLst>
          </p:cNvPr>
          <p:cNvSpPr>
            <a:spLocks noGrp="1"/>
          </p:cNvSpPr>
          <p:nvPr/>
        </p:nvSpPr>
        <p:spPr>
          <a:xfrm>
            <a:off x="876300" y="2914650"/>
            <a:ext cx="962025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A6BA6E5-BC4A-40C9-84DA-39FD155DB473}"/>
              </a:ext>
            </a:extLst>
          </p:cNvPr>
          <p:cNvSpPr>
            <a:spLocks noGrp="1"/>
          </p:cNvSpPr>
          <p:nvPr/>
        </p:nvSpPr>
        <p:spPr>
          <a:xfrm>
            <a:off x="1066800" y="3124200"/>
            <a:ext cx="1162050" cy="247650"/>
          </a:xfrm>
          <a:prstGeom prst="rect">
            <a:avLst/>
          </a:prstGeom>
          <a:solidFill>
            <a:srgbClr val="DDEFE8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D79A7A4-BE06-4651-9F0F-AD8A499DD7D1}"/>
              </a:ext>
            </a:extLst>
          </p:cNvPr>
          <p:cNvSpPr>
            <a:spLocks noGrp="1"/>
          </p:cNvSpPr>
          <p:nvPr/>
        </p:nvSpPr>
        <p:spPr>
          <a:xfrm>
            <a:off x="1143000" y="3162300"/>
            <a:ext cx="100965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825" b="1" i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thread isolation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2E20088-5701-4765-8628-BDF9E3EAD80A}"/>
              </a:ext>
            </a:extLst>
          </p:cNvPr>
          <p:cNvSpPr>
            <a:spLocks noGrp="1"/>
          </p:cNvSpPr>
          <p:nvPr/>
        </p:nvSpPr>
        <p:spPr>
          <a:xfrm>
            <a:off x="2571750" y="3057525"/>
            <a:ext cx="2381250" cy="209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1200" b="1" i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event loop 内调用异步 CAW 会死锁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A07D27F-60DE-493E-9DAF-CE393F9B08B2}"/>
              </a:ext>
            </a:extLst>
          </p:cNvPr>
          <p:cNvSpPr>
            <a:spLocks noGrp="1"/>
          </p:cNvSpPr>
          <p:nvPr/>
        </p:nvSpPr>
        <p:spPr>
          <a:xfrm>
            <a:off x="5143500" y="3038475"/>
            <a:ext cx="4762500" cy="361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  <a:buNone/>
              <a:defRPr sz="1125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CawSigner 在独立线程创建新的 event loop，并设置 120s 超时。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3AAF9D2-21DF-4C03-AA9C-10D83DDDFDCF}"/>
              </a:ext>
            </a:extLst>
          </p:cNvPr>
          <p:cNvSpPr>
            <a:spLocks noGrp="1"/>
          </p:cNvSpPr>
          <p:nvPr/>
        </p:nvSpPr>
        <p:spPr>
          <a:xfrm>
            <a:off x="876300" y="3829050"/>
            <a:ext cx="962025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6C7C975-1D0E-4032-91FA-59B32C46DD2E}"/>
              </a:ext>
            </a:extLst>
          </p:cNvPr>
          <p:cNvSpPr>
            <a:spLocks noGrp="1"/>
          </p:cNvSpPr>
          <p:nvPr/>
        </p:nvSpPr>
        <p:spPr>
          <a:xfrm>
            <a:off x="1066800" y="4038600"/>
            <a:ext cx="1162050" cy="247650"/>
          </a:xfrm>
          <a:prstGeom prst="rect">
            <a:avLst/>
          </a:prstGeom>
          <a:solidFill>
            <a:srgbClr val="FBE7C6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7AF89D5-7C76-405D-A812-F22A13A24F15}"/>
              </a:ext>
            </a:extLst>
          </p:cNvPr>
          <p:cNvSpPr>
            <a:spLocks noGrp="1"/>
          </p:cNvSpPr>
          <p:nvPr/>
        </p:nvSpPr>
        <p:spPr>
          <a:xfrm>
            <a:off x="1143000" y="4076700"/>
            <a:ext cx="100965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825" b="1" i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serialization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0C2E0B1-7FE5-4D2C-A99C-13ED2839A6E4}"/>
              </a:ext>
            </a:extLst>
          </p:cNvPr>
          <p:cNvSpPr>
            <a:spLocks noGrp="1"/>
          </p:cNvSpPr>
          <p:nvPr/>
        </p:nvSpPr>
        <p:spPr>
          <a:xfrm>
            <a:off x="2571750" y="3971925"/>
            <a:ext cx="2381250" cy="209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1200" b="1" i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bytes32 nonce 无法 JSON 序列化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5AE894C-AAC7-443B-81A8-0FEAB9C06283}"/>
              </a:ext>
            </a:extLst>
          </p:cNvPr>
          <p:cNvSpPr>
            <a:spLocks noGrp="1"/>
          </p:cNvSpPr>
          <p:nvPr/>
        </p:nvSpPr>
        <p:spPr>
          <a:xfrm>
            <a:off x="5143500" y="3952875"/>
            <a:ext cx="4762500" cy="361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  <a:buNone/>
              <a:defRPr sz="1125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_to_json_safe() 递归把 bytes 转成 0x hex 字符串。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6A3D1CF-F378-4A96-B670-5FF2B2D07BFE}"/>
              </a:ext>
            </a:extLst>
          </p:cNvPr>
          <p:cNvSpPr>
            <a:spLocks noGrp="1"/>
          </p:cNvSpPr>
          <p:nvPr/>
        </p:nvSpPr>
        <p:spPr>
          <a:xfrm>
            <a:off x="876300" y="4743450"/>
            <a:ext cx="962025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2AE352A-A069-4C37-B553-BCEF217E1E99}"/>
              </a:ext>
            </a:extLst>
          </p:cNvPr>
          <p:cNvSpPr>
            <a:spLocks noGrp="1"/>
          </p:cNvSpPr>
          <p:nvPr/>
        </p:nvSpPr>
        <p:spPr>
          <a:xfrm>
            <a:off x="1066800" y="4953000"/>
            <a:ext cx="1162050" cy="247650"/>
          </a:xfrm>
          <a:prstGeom prst="rect">
            <a:avLst/>
          </a:prstGeom>
          <a:solidFill>
            <a:srgbClr val="F9D7DF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6B13AC6-CEFB-4728-B7B6-B19B5D635101}"/>
              </a:ext>
            </a:extLst>
          </p:cNvPr>
          <p:cNvSpPr>
            <a:spLocks noGrp="1"/>
          </p:cNvSpPr>
          <p:nvPr/>
        </p:nvSpPr>
        <p:spPr>
          <a:xfrm>
            <a:off x="1143000" y="4991100"/>
            <a:ext cx="100965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825" b="1" i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ordered retry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640051F-2BBE-4689-B676-C71D1C4EEC7A}"/>
              </a:ext>
            </a:extLst>
          </p:cNvPr>
          <p:cNvSpPr>
            <a:spLocks noGrp="1"/>
          </p:cNvSpPr>
          <p:nvPr/>
        </p:nvSpPr>
        <p:spPr>
          <a:xfrm>
            <a:off x="2571750" y="4886325"/>
            <a:ext cx="2381250" cy="209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1200" b="1" i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并发 MPC 请求会冲突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65DFB8F-7E9E-40D6-B8DD-E560FBCF61F3}"/>
              </a:ext>
            </a:extLst>
          </p:cNvPr>
          <p:cNvSpPr>
            <a:spLocks noGrp="1"/>
          </p:cNvSpPr>
          <p:nvPr/>
        </p:nvSpPr>
        <p:spPr>
          <a:xfrm>
            <a:off x="5143500" y="4867275"/>
            <a:ext cx="4762500" cy="361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  <a:buNone/>
              <a:defRPr sz="1125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工具顺序执行，调用间隔 0.5s；失败后静默等待 1.5s 重试。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92B58FC-1F34-4385-B94C-69452105D8DD}"/>
              </a:ext>
            </a:extLst>
          </p:cNvPr>
          <p:cNvSpPr>
            <a:spLocks noGrp="1"/>
          </p:cNvSpPr>
          <p:nvPr/>
        </p:nvSpPr>
        <p:spPr>
          <a:xfrm>
            <a:off x="866775" y="5734050"/>
            <a:ext cx="9620250" cy="381000"/>
          </a:xfrm>
          <a:prstGeom prst="rect">
            <a:avLst/>
          </a:prstGeom>
          <a:solidFill>
            <a:srgbClr val="111827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E10E896-9F17-4B42-A906-D32F3A333BFA}"/>
              </a:ext>
            </a:extLst>
          </p:cNvPr>
          <p:cNvSpPr>
            <a:spLocks noGrp="1"/>
          </p:cNvSpPr>
          <p:nvPr/>
        </p:nvSpPr>
        <p:spPr>
          <a:xfrm>
            <a:off x="1104900" y="5829300"/>
            <a:ext cx="895350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12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实现原则：把支付复杂性收敛在工具层，保证 LLM 对外只看到“数据查询是否成功”。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CD71AA0-E4F3-42BE-92DE-9F657068860B}"/>
              </a:ext>
            </a:extLst>
          </p:cNvPr>
          <p:cNvSpPr>
            <a:spLocks noGrp="1"/>
          </p:cNvSpPr>
          <p:nvPr/>
        </p:nvSpPr>
        <p:spPr>
          <a:xfrm>
            <a:off x="11334750" y="6400800"/>
            <a:ext cx="400050" cy="209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2000"/>
              </a:lnSpc>
              <a:buNone/>
              <a:defRPr sz="900" b="0" i="0">
                <a:solidFill>
                  <a:srgbClr val="64748B"/>
                </a:solidFill>
                <a:latin typeface="Avenir Next"/>
                <a:ea typeface="Avenir Next"/>
                <a:cs typeface="Avenir Next"/>
              </a:defRPr>
            </a:pPr>
            <a:r>
              <a:rPr sz="900" b="0" i="0">
                <a:solidFill>
                  <a:srgbClr val="64748B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24964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kicker-marker">
            <a:extLst>
              <a:ext uri="{FF2B5EF4-FFF2-40B4-BE49-F238E27FC236}">
                <a16:creationId xmlns:a16="http://schemas.microsoft.com/office/drawing/2014/main" id="{701DF902-F72D-438A-9A96-C4CF37614835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85725" cy="85725"/>
          </a:xfrm>
          <a:prstGeom prst="rect">
            <a:avLst/>
          </a:prstGeom>
          <a:solidFill>
            <a:srgbClr val="0891B2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" name="kicker-label">
            <a:extLst>
              <a:ext uri="{FF2B5EF4-FFF2-40B4-BE49-F238E27FC236}">
                <a16:creationId xmlns:a16="http://schemas.microsoft.com/office/drawing/2014/main" id="{8B7BA7DF-A262-46A5-A0FE-8F57BD0CAB9E}"/>
              </a:ext>
            </a:extLst>
          </p:cNvPr>
          <p:cNvSpPr>
            <a:spLocks noGrp="1"/>
          </p:cNvSpPr>
          <p:nvPr/>
        </p:nvSpPr>
        <p:spPr>
          <a:xfrm>
            <a:off x="876300" y="409575"/>
            <a:ext cx="4381500" cy="2476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2000"/>
              </a:lnSpc>
              <a:buNone/>
              <a:defRPr sz="975" b="1" i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SAFETY BOUNDARY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EDC22BF-E828-4955-B222-A7398C447E69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096500" cy="990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2625" b="1" i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 i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Demo 已有代码级预算与类型级 Pact 约束，但生产安全必须上移到 MPC 策略层。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B7D98D1-754C-4D6A-8EF3-FC15D5D74858}"/>
              </a:ext>
            </a:extLst>
          </p:cNvPr>
          <p:cNvSpPr>
            <a:spLocks noGrp="1"/>
          </p:cNvSpPr>
          <p:nvPr/>
        </p:nvSpPr>
        <p:spPr>
          <a:xfrm>
            <a:off x="819150" y="2038350"/>
            <a:ext cx="10096500" cy="457200"/>
          </a:xfrm>
          <a:prstGeom prst="rect">
            <a:avLst/>
          </a:prstGeom>
          <a:solidFill>
            <a:srgbClr val="111827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22422F6-7CC2-4507-A285-9B4D001659BC}"/>
              </a:ext>
            </a:extLst>
          </p:cNvPr>
          <p:cNvSpPr>
            <a:spLocks noGrp="1"/>
          </p:cNvSpPr>
          <p:nvPr/>
        </p:nvSpPr>
        <p:spPr>
          <a:xfrm>
            <a:off x="1009650" y="2181225"/>
            <a:ext cx="161925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Layer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FE99125-AA37-4601-BA67-3EBAA42D74B4}"/>
              </a:ext>
            </a:extLst>
          </p:cNvPr>
          <p:cNvSpPr>
            <a:spLocks noGrp="1"/>
          </p:cNvSpPr>
          <p:nvPr/>
        </p:nvSpPr>
        <p:spPr>
          <a:xfrm>
            <a:off x="3390900" y="2181225"/>
            <a:ext cx="228600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Protection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B01BFAD-4B49-43D3-AA75-DD0E35425B7E}"/>
              </a:ext>
            </a:extLst>
          </p:cNvPr>
          <p:cNvSpPr>
            <a:spLocks noGrp="1"/>
          </p:cNvSpPr>
          <p:nvPr/>
        </p:nvSpPr>
        <p:spPr>
          <a:xfrm>
            <a:off x="6248400" y="2181225"/>
            <a:ext cx="209550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What it blocks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742758D-9FC8-4456-B6C4-2A073D44CA29}"/>
              </a:ext>
            </a:extLst>
          </p:cNvPr>
          <p:cNvSpPr>
            <a:spLocks noGrp="1"/>
          </p:cNvSpPr>
          <p:nvPr/>
        </p:nvSpPr>
        <p:spPr>
          <a:xfrm>
            <a:off x="8820150" y="2181225"/>
            <a:ext cx="171450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Residual risk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0925BF5-9FCB-4912-8B11-2A1E02CC75BE}"/>
              </a:ext>
            </a:extLst>
          </p:cNvPr>
          <p:cNvSpPr>
            <a:spLocks noGrp="1"/>
          </p:cNvSpPr>
          <p:nvPr/>
        </p:nvSpPr>
        <p:spPr>
          <a:xfrm>
            <a:off x="819150" y="2495550"/>
            <a:ext cx="10096500" cy="819150"/>
          </a:xfrm>
          <a:prstGeom prst="rect">
            <a:avLst/>
          </a:prstGeom>
          <a:solidFill>
            <a:srgbClr val="FBFAF6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18744CE-E823-4F0D-A3C5-E3558262CC61}"/>
              </a:ext>
            </a:extLst>
          </p:cNvPr>
          <p:cNvSpPr>
            <a:spLocks noGrp="1"/>
          </p:cNvSpPr>
          <p:nvPr/>
        </p:nvSpPr>
        <p:spPr>
          <a:xfrm>
            <a:off x="1009650" y="2743200"/>
            <a:ext cx="1714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1200" b="1" i="0">
                <a:solidFill>
                  <a:srgbClr val="047857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047857"/>
                </a:solidFill>
                <a:latin typeface="Avenir Next"/>
                <a:ea typeface="Avenir Next"/>
                <a:cs typeface="Avenir Next"/>
              </a:rPr>
              <a:t>CAW Pact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31598C3-CAF5-40B9-85ED-30B855727F63}"/>
              </a:ext>
            </a:extLst>
          </p:cNvPr>
          <p:cNvSpPr>
            <a:spLocks noGrp="1"/>
          </p:cNvSpPr>
          <p:nvPr/>
        </p:nvSpPr>
        <p:spPr>
          <a:xfrm>
            <a:off x="3390900" y="2638425"/>
            <a:ext cx="238125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050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message_sign 只允许 Base Sepolia USDC 的 EIP-712 签名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83ECE56-E6C7-44F7-AADF-763A1F338935}"/>
              </a:ext>
            </a:extLst>
          </p:cNvPr>
          <p:cNvSpPr>
            <a:spLocks noGrp="1"/>
          </p:cNvSpPr>
          <p:nvPr/>
        </p:nvSpPr>
        <p:spPr>
          <a:xfrm>
            <a:off x="6248400" y="2638425"/>
            <a:ext cx="20955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050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拒绝主网、ETH 转账、其他合约操作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307A5A1-F0E5-4DB2-A6ED-6004A26C9FEE}"/>
              </a:ext>
            </a:extLst>
          </p:cNvPr>
          <p:cNvSpPr>
            <a:spLocks noGrp="1"/>
          </p:cNvSpPr>
          <p:nvPr/>
        </p:nvSpPr>
        <p:spPr>
          <a:xfrm>
            <a:off x="8820150" y="2638425"/>
            <a:ext cx="180975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050" b="0" i="0">
                <a:solidFill>
                  <a:srgbClr val="BE123C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BE123C"/>
                </a:solidFill>
                <a:latin typeface="PingFang SC"/>
                <a:ea typeface="PingFang SC"/>
                <a:cs typeface="PingFang SC"/>
              </a:rPr>
              <a:t>当前未配置频率/额度上限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4500055-ED98-4E00-9ED3-D56834FC1796}"/>
              </a:ext>
            </a:extLst>
          </p:cNvPr>
          <p:cNvSpPr>
            <a:spLocks noGrp="1"/>
          </p:cNvSpPr>
          <p:nvPr/>
        </p:nvSpPr>
        <p:spPr>
          <a:xfrm>
            <a:off x="819150" y="3314700"/>
            <a:ext cx="1009650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351A62B-0275-479C-8CAB-4F9F8E0FEB55}"/>
              </a:ext>
            </a:extLst>
          </p:cNvPr>
          <p:cNvSpPr>
            <a:spLocks noGrp="1"/>
          </p:cNvSpPr>
          <p:nvPr/>
        </p:nvSpPr>
        <p:spPr>
          <a:xfrm>
            <a:off x="1009650" y="3562350"/>
            <a:ext cx="1714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1200" b="1" i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Agent code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B4C6C0C-A6E0-4C4D-A807-407D92E82018}"/>
              </a:ext>
            </a:extLst>
          </p:cNvPr>
          <p:cNvSpPr>
            <a:spLocks noGrp="1"/>
          </p:cNvSpPr>
          <p:nvPr/>
        </p:nvSpPr>
        <p:spPr>
          <a:xfrm>
            <a:off x="3390900" y="3457575"/>
            <a:ext cx="238125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050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SESSION_BUDGET_USDC = 0.05；每次工具调用前检查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1933611-5501-4AAD-B0CD-DE63ACD777E7}"/>
              </a:ext>
            </a:extLst>
          </p:cNvPr>
          <p:cNvSpPr>
            <a:spLocks noGrp="1"/>
          </p:cNvSpPr>
          <p:nvPr/>
        </p:nvSpPr>
        <p:spPr>
          <a:xfrm>
            <a:off x="6248400" y="3457575"/>
            <a:ext cx="20955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050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防止 LLM 一轮误触发大量查询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B09B3FE-4D55-4DB1-9542-93383AE4B57B}"/>
              </a:ext>
            </a:extLst>
          </p:cNvPr>
          <p:cNvSpPr>
            <a:spLocks noGrp="1"/>
          </p:cNvSpPr>
          <p:nvPr/>
        </p:nvSpPr>
        <p:spPr>
          <a:xfrm>
            <a:off x="8820150" y="3457575"/>
            <a:ext cx="180975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050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代码被攻破时可被绕过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CB3C595-3D77-499A-BFAA-7FFC51453217}"/>
              </a:ext>
            </a:extLst>
          </p:cNvPr>
          <p:cNvSpPr>
            <a:spLocks noGrp="1"/>
          </p:cNvSpPr>
          <p:nvPr/>
        </p:nvSpPr>
        <p:spPr>
          <a:xfrm>
            <a:off x="819150" y="4133850"/>
            <a:ext cx="10096500" cy="819150"/>
          </a:xfrm>
          <a:prstGeom prst="rect">
            <a:avLst/>
          </a:prstGeom>
          <a:solidFill>
            <a:srgbClr val="FBFAF6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71819CA-93C2-4FFA-8DB4-09D8CAAE52AB}"/>
              </a:ext>
            </a:extLst>
          </p:cNvPr>
          <p:cNvSpPr>
            <a:spLocks noGrp="1"/>
          </p:cNvSpPr>
          <p:nvPr/>
        </p:nvSpPr>
        <p:spPr>
          <a:xfrm>
            <a:off x="1009650" y="4381500"/>
            <a:ext cx="1714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1200" b="1" i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x402 / EIP-3009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F641ACA-A5A0-470E-984D-9B9C02559A54}"/>
              </a:ext>
            </a:extLst>
          </p:cNvPr>
          <p:cNvSpPr>
            <a:spLocks noGrp="1"/>
          </p:cNvSpPr>
          <p:nvPr/>
        </p:nvSpPr>
        <p:spPr>
          <a:xfrm>
            <a:off x="3390900" y="4276725"/>
            <a:ext cx="238125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050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每笔支付使用随机 nonce；授权只能被使用一次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E9EC0A0-779F-4AFB-B845-D73579541621}"/>
              </a:ext>
            </a:extLst>
          </p:cNvPr>
          <p:cNvSpPr>
            <a:spLocks noGrp="1"/>
          </p:cNvSpPr>
          <p:nvPr/>
        </p:nvSpPr>
        <p:spPr>
          <a:xfrm>
            <a:off x="6248400" y="4276725"/>
            <a:ext cx="20955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050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重放攻击与重复扣款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CF47C83-3679-4FA4-A0F9-790C4EB614C5}"/>
              </a:ext>
            </a:extLst>
          </p:cNvPr>
          <p:cNvSpPr>
            <a:spLocks noGrp="1"/>
          </p:cNvSpPr>
          <p:nvPr/>
        </p:nvSpPr>
        <p:spPr>
          <a:xfrm>
            <a:off x="8820150" y="4276725"/>
            <a:ext cx="180975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050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Facilitator/网络异常导致延迟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C81A925-5C0D-4775-8ECD-76301320F895}"/>
              </a:ext>
            </a:extLst>
          </p:cNvPr>
          <p:cNvSpPr>
            <a:spLocks noGrp="1"/>
          </p:cNvSpPr>
          <p:nvPr/>
        </p:nvSpPr>
        <p:spPr>
          <a:xfrm>
            <a:off x="819150" y="4953000"/>
            <a:ext cx="1009650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7A09359-5A06-4E99-AB9B-0B647135E51B}"/>
              </a:ext>
            </a:extLst>
          </p:cNvPr>
          <p:cNvSpPr>
            <a:spLocks noGrp="1"/>
          </p:cNvSpPr>
          <p:nvPr/>
        </p:nvSpPr>
        <p:spPr>
          <a:xfrm>
            <a:off x="1009650" y="5200650"/>
            <a:ext cx="1714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1200" b="1" i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Operational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78EC7F6-F1C0-4C2A-A5D8-470306904AFE}"/>
              </a:ext>
            </a:extLst>
          </p:cNvPr>
          <p:cNvSpPr>
            <a:spLocks noGrp="1"/>
          </p:cNvSpPr>
          <p:nvPr/>
        </p:nvSpPr>
        <p:spPr>
          <a:xfrm>
            <a:off x="3390900" y="5095875"/>
            <a:ext cx="238125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050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失败静默重试一次；CAW 超时后优雅降级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4E2210C-51C0-48C8-8095-AF993C0E1B62}"/>
              </a:ext>
            </a:extLst>
          </p:cNvPr>
          <p:cNvSpPr>
            <a:spLocks noGrp="1"/>
          </p:cNvSpPr>
          <p:nvPr/>
        </p:nvSpPr>
        <p:spPr>
          <a:xfrm>
            <a:off x="6248400" y="5095875"/>
            <a:ext cx="20955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050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避免 UI 暴露中间失败与程序崩溃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1255E00-3AC2-403A-91C0-79F083207D7B}"/>
              </a:ext>
            </a:extLst>
          </p:cNvPr>
          <p:cNvSpPr>
            <a:spLocks noGrp="1"/>
          </p:cNvSpPr>
          <p:nvPr/>
        </p:nvSpPr>
        <p:spPr>
          <a:xfrm>
            <a:off x="8820150" y="5095875"/>
            <a:ext cx="180975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050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MPC 签名约 15-25s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97CD857-FFFE-4A5F-8E19-2CF69BF0EF70}"/>
              </a:ext>
            </a:extLst>
          </p:cNvPr>
          <p:cNvSpPr>
            <a:spLocks noGrp="1"/>
          </p:cNvSpPr>
          <p:nvPr/>
        </p:nvSpPr>
        <p:spPr>
          <a:xfrm>
            <a:off x="1123950" y="6057900"/>
            <a:ext cx="9525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1275" b="1" i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生产建议：在 Pact 中加入 deny_if.usage_limits，例如每小时最多 N 次签名或单笔/累计额度限制。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17B238A-1756-454B-A0C3-03FD2B0A1A45}"/>
              </a:ext>
            </a:extLst>
          </p:cNvPr>
          <p:cNvSpPr>
            <a:spLocks noGrp="1"/>
          </p:cNvSpPr>
          <p:nvPr/>
        </p:nvSpPr>
        <p:spPr>
          <a:xfrm>
            <a:off x="11334750" y="6400800"/>
            <a:ext cx="400050" cy="209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2000"/>
              </a:lnSpc>
              <a:buNone/>
              <a:defRPr sz="900" b="0" i="0">
                <a:solidFill>
                  <a:srgbClr val="64748B"/>
                </a:solidFill>
                <a:latin typeface="Avenir Next"/>
                <a:ea typeface="Avenir Next"/>
                <a:cs typeface="Avenir Next"/>
              </a:defRPr>
            </a:pPr>
            <a:r>
              <a:rPr sz="900" b="0" i="0">
                <a:solidFill>
                  <a:srgbClr val="64748B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750815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kicker-marker">
            <a:extLst>
              <a:ext uri="{FF2B5EF4-FFF2-40B4-BE49-F238E27FC236}">
                <a16:creationId xmlns:a16="http://schemas.microsoft.com/office/drawing/2014/main" id="{A94877AB-BC2B-412E-A4F3-63150FF481AD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85725" cy="85725"/>
          </a:xfrm>
          <a:prstGeom prst="rect">
            <a:avLst/>
          </a:prstGeom>
          <a:solidFill>
            <a:srgbClr val="0891B2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" name="kicker-label">
            <a:extLst>
              <a:ext uri="{FF2B5EF4-FFF2-40B4-BE49-F238E27FC236}">
                <a16:creationId xmlns:a16="http://schemas.microsoft.com/office/drawing/2014/main" id="{F4DA057D-4832-47DC-AD77-E361DC8469E3}"/>
              </a:ext>
            </a:extLst>
          </p:cNvPr>
          <p:cNvSpPr>
            <a:spLocks noGrp="1"/>
          </p:cNvSpPr>
          <p:nvPr/>
        </p:nvSpPr>
        <p:spPr>
          <a:xfrm>
            <a:off x="876300" y="409575"/>
            <a:ext cx="4381500" cy="2476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2000"/>
              </a:lnSpc>
              <a:buNone/>
              <a:defRPr sz="975" b="1" i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DEMO EVIDENCE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1391EB1-9862-4AB7-8CF6-16628E927C30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9906000" cy="1047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2625" b="1" i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 i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 如何证明 Agent 完成了自主查询、自动支付与链上可验证结算</a:t>
            </a:r>
            <a:r>
              <a:rPr lang="zh-CN" altLang="en-US" sz="2625" b="1" i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？</a:t>
            </a:r>
            <a:endParaRPr sz="2625" b="1" i="0">
              <a:solidFill>
                <a:srgbClr val="111827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C33B3EE-F819-4683-B214-E390B86A1164}"/>
              </a:ext>
            </a:extLst>
          </p:cNvPr>
          <p:cNvSpPr>
            <a:spLocks noGrp="1"/>
          </p:cNvSpPr>
          <p:nvPr/>
        </p:nvSpPr>
        <p:spPr>
          <a:xfrm>
            <a:off x="876300" y="2095500"/>
            <a:ext cx="16383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76075D9-A166-4BE4-B928-8969041DD1A8}"/>
              </a:ext>
            </a:extLst>
          </p:cNvPr>
          <p:cNvSpPr>
            <a:spLocks noGrp="1"/>
          </p:cNvSpPr>
          <p:nvPr/>
        </p:nvSpPr>
        <p:spPr>
          <a:xfrm>
            <a:off x="1028700" y="2209800"/>
            <a:ext cx="133350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1950" b="1" i="0">
                <a:solidFill>
                  <a:srgbClr val="D97706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 i="0">
                <a:solidFill>
                  <a:srgbClr val="D97706"/>
                </a:solidFill>
                <a:latin typeface="Avenir Next"/>
                <a:ea typeface="Avenir Next"/>
                <a:cs typeface="Avenir Next"/>
              </a:rPr>
              <a:t>15-25s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397C47F-B224-4212-AB5A-4478E8DEE961}"/>
              </a:ext>
            </a:extLst>
          </p:cNvPr>
          <p:cNvSpPr>
            <a:spLocks noGrp="1"/>
          </p:cNvSpPr>
          <p:nvPr/>
        </p:nvSpPr>
        <p:spPr>
          <a:xfrm>
            <a:off x="1028700" y="2552700"/>
            <a:ext cx="1333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900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MPC signing latency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9B8987C-208F-450E-8659-561670608F58}"/>
              </a:ext>
            </a:extLst>
          </p:cNvPr>
          <p:cNvSpPr>
            <a:spLocks noGrp="1"/>
          </p:cNvSpPr>
          <p:nvPr/>
        </p:nvSpPr>
        <p:spPr>
          <a:xfrm>
            <a:off x="876300" y="3105150"/>
            <a:ext cx="16383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A7ED41-3605-4986-93F2-613BFADC421E}"/>
              </a:ext>
            </a:extLst>
          </p:cNvPr>
          <p:cNvSpPr>
            <a:spLocks noGrp="1"/>
          </p:cNvSpPr>
          <p:nvPr/>
        </p:nvSpPr>
        <p:spPr>
          <a:xfrm>
            <a:off x="1028700" y="3219450"/>
            <a:ext cx="133350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1950" b="1" i="0">
                <a:solidFill>
                  <a:srgbClr val="BE123C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 i="0">
                <a:solidFill>
                  <a:srgbClr val="BE123C"/>
                </a:solidFill>
                <a:latin typeface="Avenir Next"/>
                <a:ea typeface="Avenir Next"/>
                <a:cs typeface="Avenir Next"/>
              </a:rPr>
              <a:t>$0.05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525F4E6-9718-49A2-BA93-8351546912C6}"/>
              </a:ext>
            </a:extLst>
          </p:cNvPr>
          <p:cNvSpPr>
            <a:spLocks noGrp="1"/>
          </p:cNvSpPr>
          <p:nvPr/>
        </p:nvSpPr>
        <p:spPr>
          <a:xfrm>
            <a:off x="1028700" y="3562350"/>
            <a:ext cx="1333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900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session budget cap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329F8D9-C162-4F5C-9706-8D3DC2B15E10}"/>
              </a:ext>
            </a:extLst>
          </p:cNvPr>
          <p:cNvSpPr>
            <a:spLocks noGrp="1"/>
          </p:cNvSpPr>
          <p:nvPr/>
        </p:nvSpPr>
        <p:spPr>
          <a:xfrm>
            <a:off x="876300" y="4114800"/>
            <a:ext cx="16383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E99E355-E872-4B70-AAFF-6A5142D894B9}"/>
              </a:ext>
            </a:extLst>
          </p:cNvPr>
          <p:cNvSpPr>
            <a:spLocks noGrp="1"/>
          </p:cNvSpPr>
          <p:nvPr/>
        </p:nvSpPr>
        <p:spPr>
          <a:xfrm>
            <a:off x="1028700" y="4229100"/>
            <a:ext cx="133350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1950" b="1" i="0">
                <a:solidFill>
                  <a:srgbClr val="0891B2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 i="0">
                <a:solidFill>
                  <a:srgbClr val="0891B2"/>
                </a:solidFill>
                <a:latin typeface="Avenir Next"/>
                <a:ea typeface="Avenir Next"/>
                <a:cs typeface="Avenir Next"/>
              </a:rPr>
              <a:t>6 rounds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6D40C40-D5BE-4312-B0E2-06FBE06ED5F2}"/>
              </a:ext>
            </a:extLst>
          </p:cNvPr>
          <p:cNvSpPr>
            <a:spLocks noGrp="1"/>
          </p:cNvSpPr>
          <p:nvPr/>
        </p:nvSpPr>
        <p:spPr>
          <a:xfrm>
            <a:off x="1028700" y="4572000"/>
            <a:ext cx="1333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900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conversation window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1DA7C10-43CA-441F-B4B6-52D5050C60C3}"/>
              </a:ext>
            </a:extLst>
          </p:cNvPr>
          <p:cNvSpPr>
            <a:spLocks noGrp="1"/>
          </p:cNvSpPr>
          <p:nvPr/>
        </p:nvSpPr>
        <p:spPr>
          <a:xfrm>
            <a:off x="876300" y="5124450"/>
            <a:ext cx="16383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69E5C81-B1F2-4BF1-B550-0CDB7659E9FE}"/>
              </a:ext>
            </a:extLst>
          </p:cNvPr>
          <p:cNvSpPr>
            <a:spLocks noGrp="1"/>
          </p:cNvSpPr>
          <p:nvPr/>
        </p:nvSpPr>
        <p:spPr>
          <a:xfrm>
            <a:off x="1028700" y="5238750"/>
            <a:ext cx="133350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1950" b="1" i="0">
                <a:solidFill>
                  <a:srgbClr val="047857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 i="0">
                <a:solidFill>
                  <a:srgbClr val="047857"/>
                </a:solidFill>
                <a:latin typeface="Avenir Next"/>
                <a:ea typeface="Avenir Next"/>
                <a:cs typeface="Avenir Next"/>
              </a:rPr>
              <a:t>tx hash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BD75359-3898-4507-9E4C-70E0C87AEB9D}"/>
              </a:ext>
            </a:extLst>
          </p:cNvPr>
          <p:cNvSpPr>
            <a:spLocks noGrp="1"/>
          </p:cNvSpPr>
          <p:nvPr/>
        </p:nvSpPr>
        <p:spPr>
          <a:xfrm>
            <a:off x="1028700" y="5581650"/>
            <a:ext cx="1333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900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on-chain audit proof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CDB3CEC-8A12-4748-9EB3-7BD739D880A8}"/>
              </a:ext>
            </a:extLst>
          </p:cNvPr>
          <p:cNvSpPr>
            <a:spLocks noGrp="1"/>
          </p:cNvSpPr>
          <p:nvPr/>
        </p:nvSpPr>
        <p:spPr>
          <a:xfrm>
            <a:off x="3143250" y="2095500"/>
            <a:ext cx="74295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EB8AE54-37DB-4B28-B3F4-64E3B6C28F49}"/>
              </a:ext>
            </a:extLst>
          </p:cNvPr>
          <p:cNvSpPr>
            <a:spLocks noGrp="1"/>
          </p:cNvSpPr>
          <p:nvPr/>
        </p:nvSpPr>
        <p:spPr>
          <a:xfrm>
            <a:off x="3581400" y="2352675"/>
            <a:ext cx="323850" cy="323850"/>
          </a:xfrm>
          <a:prstGeom prst="rect">
            <a:avLst/>
          </a:prstGeom>
          <a:solidFill>
            <a:srgbClr val="DDF3F7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8FB22DA-1505-4E93-AAB9-710C9EA11C0C}"/>
              </a:ext>
            </a:extLst>
          </p:cNvPr>
          <p:cNvSpPr>
            <a:spLocks noGrp="1"/>
          </p:cNvSpPr>
          <p:nvPr/>
        </p:nvSpPr>
        <p:spPr>
          <a:xfrm>
            <a:off x="3667125" y="2409825"/>
            <a:ext cx="15240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1050" b="1" i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A1BAD0B-613D-44DF-ADF3-62BA19CDF78D}"/>
              </a:ext>
            </a:extLst>
          </p:cNvPr>
          <p:cNvSpPr>
            <a:spLocks noGrp="1"/>
          </p:cNvSpPr>
          <p:nvPr/>
        </p:nvSpPr>
        <p:spPr>
          <a:xfrm>
            <a:off x="4057650" y="2381250"/>
            <a:ext cx="2190750" cy="209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1200" b="1" i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用户意图输入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A50FC8E-7FE2-481D-9137-ED0509FAE45E}"/>
              </a:ext>
            </a:extLst>
          </p:cNvPr>
          <p:cNvSpPr>
            <a:spLocks noGrp="1"/>
          </p:cNvSpPr>
          <p:nvPr/>
        </p:nvSpPr>
        <p:spPr>
          <a:xfrm>
            <a:off x="6286500" y="2381250"/>
            <a:ext cx="3714750" cy="209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1125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自然语言提出多项链上数据需求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DA4895F-6A15-4B10-BE01-9ADCA499D1AC}"/>
              </a:ext>
            </a:extLst>
          </p:cNvPr>
          <p:cNvSpPr>
            <a:spLocks noGrp="1"/>
          </p:cNvSpPr>
          <p:nvPr/>
        </p:nvSpPr>
        <p:spPr>
          <a:xfrm>
            <a:off x="3733800" y="2676525"/>
            <a:ext cx="19050" cy="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11DA7A7-6C03-40A7-8ADF-6E7E3668D98F}"/>
              </a:ext>
            </a:extLst>
          </p:cNvPr>
          <p:cNvSpPr>
            <a:spLocks noGrp="1"/>
          </p:cNvSpPr>
          <p:nvPr/>
        </p:nvSpPr>
        <p:spPr>
          <a:xfrm>
            <a:off x="3581400" y="2905125"/>
            <a:ext cx="323850" cy="323850"/>
          </a:xfrm>
          <a:prstGeom prst="rect">
            <a:avLst/>
          </a:prstGeom>
          <a:solidFill>
            <a:srgbClr val="DDF3F7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967590E-0C91-45CF-86C6-ADFB69A06B42}"/>
              </a:ext>
            </a:extLst>
          </p:cNvPr>
          <p:cNvSpPr>
            <a:spLocks noGrp="1"/>
          </p:cNvSpPr>
          <p:nvPr/>
        </p:nvSpPr>
        <p:spPr>
          <a:xfrm>
            <a:off x="3667125" y="2962275"/>
            <a:ext cx="15240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1050" b="1" i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C1B362F-C84B-4593-AB03-FBE56794952A}"/>
              </a:ext>
            </a:extLst>
          </p:cNvPr>
          <p:cNvSpPr>
            <a:spLocks noGrp="1"/>
          </p:cNvSpPr>
          <p:nvPr/>
        </p:nvSpPr>
        <p:spPr>
          <a:xfrm>
            <a:off x="4057650" y="2933700"/>
            <a:ext cx="2190750" cy="209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1200" b="1" i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工具自主选择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B4B6E0F-1C1B-4C0B-8894-D2F6D856EAFD}"/>
              </a:ext>
            </a:extLst>
          </p:cNvPr>
          <p:cNvSpPr>
            <a:spLocks noGrp="1"/>
          </p:cNvSpPr>
          <p:nvPr/>
        </p:nvSpPr>
        <p:spPr>
          <a:xfrm>
            <a:off x="6286500" y="2933700"/>
            <a:ext cx="3714750" cy="209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1125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LLM 决定调用哪些查询工具与参数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5CD3E61-E22D-4C2E-BD2C-3A22876A6959}"/>
              </a:ext>
            </a:extLst>
          </p:cNvPr>
          <p:cNvSpPr>
            <a:spLocks noGrp="1"/>
          </p:cNvSpPr>
          <p:nvPr/>
        </p:nvSpPr>
        <p:spPr>
          <a:xfrm>
            <a:off x="3733800" y="3228975"/>
            <a:ext cx="19050" cy="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0C29A6A-6E44-4E96-BD86-C9F0C6F92117}"/>
              </a:ext>
            </a:extLst>
          </p:cNvPr>
          <p:cNvSpPr>
            <a:spLocks noGrp="1"/>
          </p:cNvSpPr>
          <p:nvPr/>
        </p:nvSpPr>
        <p:spPr>
          <a:xfrm>
            <a:off x="3581400" y="3457575"/>
            <a:ext cx="323850" cy="323850"/>
          </a:xfrm>
          <a:prstGeom prst="rect">
            <a:avLst/>
          </a:prstGeom>
          <a:solidFill>
            <a:srgbClr val="DDF3F7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5B20D66-4E9E-4B7F-870C-3A0CAD365A32}"/>
              </a:ext>
            </a:extLst>
          </p:cNvPr>
          <p:cNvSpPr>
            <a:spLocks noGrp="1"/>
          </p:cNvSpPr>
          <p:nvPr/>
        </p:nvSpPr>
        <p:spPr>
          <a:xfrm>
            <a:off x="3667125" y="3514725"/>
            <a:ext cx="15240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1050" b="1" i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F8FCF7B-915A-41F9-951A-6D0F3ECB49F2}"/>
              </a:ext>
            </a:extLst>
          </p:cNvPr>
          <p:cNvSpPr>
            <a:spLocks noGrp="1"/>
          </p:cNvSpPr>
          <p:nvPr/>
        </p:nvSpPr>
        <p:spPr>
          <a:xfrm>
            <a:off x="4057650" y="3486150"/>
            <a:ext cx="2190750" cy="209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1200" b="1" i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支付流水可见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2CDB472-189D-4489-B2D2-08E840BAA826}"/>
              </a:ext>
            </a:extLst>
          </p:cNvPr>
          <p:cNvSpPr>
            <a:spLocks noGrp="1"/>
          </p:cNvSpPr>
          <p:nvPr/>
        </p:nvSpPr>
        <p:spPr>
          <a:xfrm>
            <a:off x="6286500" y="3486150"/>
            <a:ext cx="3714750" cy="209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1125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终端展示每笔耗时、金额与交易哈希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82E184F-3556-47C6-9DC4-ABE5F25F9604}"/>
              </a:ext>
            </a:extLst>
          </p:cNvPr>
          <p:cNvSpPr>
            <a:spLocks noGrp="1"/>
          </p:cNvSpPr>
          <p:nvPr/>
        </p:nvSpPr>
        <p:spPr>
          <a:xfrm>
            <a:off x="3733800" y="3781425"/>
            <a:ext cx="19050" cy="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3BE5C3E-A91F-4243-997D-5E6CE30CADB8}"/>
              </a:ext>
            </a:extLst>
          </p:cNvPr>
          <p:cNvSpPr>
            <a:spLocks noGrp="1"/>
          </p:cNvSpPr>
          <p:nvPr/>
        </p:nvSpPr>
        <p:spPr>
          <a:xfrm>
            <a:off x="3581400" y="4010025"/>
            <a:ext cx="323850" cy="323850"/>
          </a:xfrm>
          <a:prstGeom prst="rect">
            <a:avLst/>
          </a:prstGeom>
          <a:solidFill>
            <a:srgbClr val="FBE7C6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2D9BEC2C-5FAA-40DD-AD32-05B99EB31491}"/>
              </a:ext>
            </a:extLst>
          </p:cNvPr>
          <p:cNvSpPr>
            <a:spLocks noGrp="1"/>
          </p:cNvSpPr>
          <p:nvPr/>
        </p:nvSpPr>
        <p:spPr>
          <a:xfrm>
            <a:off x="3667125" y="4067175"/>
            <a:ext cx="15240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1050" b="1" i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D283537-F056-40E7-9632-6585A78B1B03}"/>
              </a:ext>
            </a:extLst>
          </p:cNvPr>
          <p:cNvSpPr>
            <a:spLocks noGrp="1"/>
          </p:cNvSpPr>
          <p:nvPr/>
        </p:nvSpPr>
        <p:spPr>
          <a:xfrm>
            <a:off x="4057650" y="4038600"/>
            <a:ext cx="2190750" cy="209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1200" b="1" i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预算边界生效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0E66887-E1DF-4EEE-A953-FCADDBBDB991}"/>
              </a:ext>
            </a:extLst>
          </p:cNvPr>
          <p:cNvSpPr>
            <a:spLocks noGrp="1"/>
          </p:cNvSpPr>
          <p:nvPr/>
        </p:nvSpPr>
        <p:spPr>
          <a:xfrm>
            <a:off x="6286500" y="4038600"/>
            <a:ext cx="3714750" cy="209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1125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会话支出达到上限后主动停止付费调用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F1C6B26-FDD8-4CFB-8762-9F5D31B25848}"/>
              </a:ext>
            </a:extLst>
          </p:cNvPr>
          <p:cNvSpPr>
            <a:spLocks noGrp="1"/>
          </p:cNvSpPr>
          <p:nvPr/>
        </p:nvSpPr>
        <p:spPr>
          <a:xfrm>
            <a:off x="3733800" y="4333875"/>
            <a:ext cx="19050" cy="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83C3AC17-5B5B-4AC5-AE75-D4EE74B611A5}"/>
              </a:ext>
            </a:extLst>
          </p:cNvPr>
          <p:cNvSpPr>
            <a:spLocks noGrp="1"/>
          </p:cNvSpPr>
          <p:nvPr/>
        </p:nvSpPr>
        <p:spPr>
          <a:xfrm>
            <a:off x="3581400" y="4562475"/>
            <a:ext cx="323850" cy="323850"/>
          </a:xfrm>
          <a:prstGeom prst="rect">
            <a:avLst/>
          </a:prstGeom>
          <a:solidFill>
            <a:srgbClr val="FBE7C6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2D21F649-8EA7-4604-90DE-4080D8FF6482}"/>
              </a:ext>
            </a:extLst>
          </p:cNvPr>
          <p:cNvSpPr>
            <a:spLocks noGrp="1"/>
          </p:cNvSpPr>
          <p:nvPr/>
        </p:nvSpPr>
        <p:spPr>
          <a:xfrm>
            <a:off x="3667125" y="4619625"/>
            <a:ext cx="15240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1050" b="1" i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5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1F85B01-AA74-4B1F-97DF-8B15360D9A29}"/>
              </a:ext>
            </a:extLst>
          </p:cNvPr>
          <p:cNvSpPr>
            <a:spLocks noGrp="1"/>
          </p:cNvSpPr>
          <p:nvPr/>
        </p:nvSpPr>
        <p:spPr>
          <a:xfrm>
            <a:off x="4057650" y="4591050"/>
            <a:ext cx="2190750" cy="209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1200" b="1" i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链上结果校验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0188308D-A29C-40F7-88CE-DA30E8C07B8F}"/>
              </a:ext>
            </a:extLst>
          </p:cNvPr>
          <p:cNvSpPr>
            <a:spLocks noGrp="1"/>
          </p:cNvSpPr>
          <p:nvPr/>
        </p:nvSpPr>
        <p:spPr>
          <a:xfrm>
            <a:off x="6286500" y="4591050"/>
            <a:ext cx="3714750" cy="209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1125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交易记录与余额差值可独立核验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439A536D-9EE9-455D-A9C4-F9C311774066}"/>
              </a:ext>
            </a:extLst>
          </p:cNvPr>
          <p:cNvSpPr>
            <a:spLocks noGrp="1"/>
          </p:cNvSpPr>
          <p:nvPr/>
        </p:nvSpPr>
        <p:spPr>
          <a:xfrm>
            <a:off x="3143250" y="5692485"/>
            <a:ext cx="7429500" cy="323850"/>
          </a:xfrm>
          <a:prstGeom prst="rect">
            <a:avLst/>
          </a:prstGeom>
          <a:solidFill>
            <a:srgbClr val="111827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ED4AF57C-0526-4993-95F2-445FD2BD1A4B}"/>
              </a:ext>
            </a:extLst>
          </p:cNvPr>
          <p:cNvSpPr>
            <a:spLocks noGrp="1"/>
          </p:cNvSpPr>
          <p:nvPr/>
        </p:nvSpPr>
        <p:spPr>
          <a:xfrm>
            <a:off x="3326245" y="5753099"/>
            <a:ext cx="781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11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一次自然语言请求触发多次工具调用，每次调用都对应独立授权、扣款与可查交易。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A3A1ED94-846D-4401-A9D9-1DEDD67B18B8}"/>
              </a:ext>
            </a:extLst>
          </p:cNvPr>
          <p:cNvSpPr>
            <a:spLocks noGrp="1"/>
          </p:cNvSpPr>
          <p:nvPr/>
        </p:nvSpPr>
        <p:spPr>
          <a:xfrm>
            <a:off x="11334750" y="6400800"/>
            <a:ext cx="400050" cy="209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2000"/>
              </a:lnSpc>
              <a:buNone/>
              <a:defRPr sz="900" b="0" i="0">
                <a:solidFill>
                  <a:srgbClr val="64748B"/>
                </a:solidFill>
                <a:latin typeface="Avenir Next"/>
                <a:ea typeface="Avenir Next"/>
                <a:cs typeface="Avenir Next"/>
              </a:defRPr>
            </a:pPr>
            <a:r>
              <a:rPr sz="900" b="0" i="0">
                <a:solidFill>
                  <a:srgbClr val="64748B"/>
                </a:solidFill>
                <a:latin typeface="Avenir Next"/>
                <a:ea typeface="Avenir Next"/>
                <a:cs typeface="Avenir Next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216874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kicker-marker">
            <a:extLst>
              <a:ext uri="{FF2B5EF4-FFF2-40B4-BE49-F238E27FC236}">
                <a16:creationId xmlns:a16="http://schemas.microsoft.com/office/drawing/2014/main" id="{598847E2-4214-4A33-93B5-B635CD181630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85725" cy="85725"/>
          </a:xfrm>
          <a:prstGeom prst="rect">
            <a:avLst/>
          </a:prstGeom>
          <a:solidFill>
            <a:srgbClr val="0891B2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" name="kicker-label">
            <a:extLst>
              <a:ext uri="{FF2B5EF4-FFF2-40B4-BE49-F238E27FC236}">
                <a16:creationId xmlns:a16="http://schemas.microsoft.com/office/drawing/2014/main" id="{1840B1BB-B01C-4056-89F4-27649E290A72}"/>
              </a:ext>
            </a:extLst>
          </p:cNvPr>
          <p:cNvSpPr>
            <a:spLocks noGrp="1"/>
          </p:cNvSpPr>
          <p:nvPr/>
        </p:nvSpPr>
        <p:spPr>
          <a:xfrm>
            <a:off x="876300" y="409575"/>
            <a:ext cx="4381500" cy="2476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2000"/>
              </a:lnSpc>
              <a:buNone/>
              <a:defRPr sz="975" b="1" i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ROADMAP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F277A0C-21D0-40AC-BF02-666DB7F79590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096500" cy="990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2625" b="1" i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 i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从研究 demo 到生产系统，主要差距集中在策略、性能和结算基础设施。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CC33634-D6F7-4E60-B34C-3A1857D1075F}"/>
              </a:ext>
            </a:extLst>
          </p:cNvPr>
          <p:cNvSpPr>
            <a:spLocks noGrp="1"/>
          </p:cNvSpPr>
          <p:nvPr/>
        </p:nvSpPr>
        <p:spPr>
          <a:xfrm flipV="1">
            <a:off x="876300" y="3552289"/>
            <a:ext cx="9782175" cy="61913"/>
          </a:xfrm>
          <a:prstGeom prst="rect">
            <a:avLst/>
          </a:prstGeom>
          <a:solidFill>
            <a:srgbClr val="CBD5E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D1BDB57-73EC-43E1-9884-47A64B9117E8}"/>
              </a:ext>
            </a:extLst>
          </p:cNvPr>
          <p:cNvSpPr>
            <a:spLocks noGrp="1"/>
          </p:cNvSpPr>
          <p:nvPr/>
        </p:nvSpPr>
        <p:spPr>
          <a:xfrm flipV="1">
            <a:off x="876300" y="3190336"/>
            <a:ext cx="239562" cy="228603"/>
          </a:xfrm>
          <a:prstGeom prst="rect">
            <a:avLst/>
          </a:prstGeom>
          <a:solidFill>
            <a:srgbClr val="0891B2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A9923A3-5301-47B2-901B-A30289014C1E}"/>
              </a:ext>
            </a:extLst>
          </p:cNvPr>
          <p:cNvSpPr>
            <a:spLocks noGrp="1"/>
          </p:cNvSpPr>
          <p:nvPr/>
        </p:nvSpPr>
        <p:spPr>
          <a:xfrm>
            <a:off x="876300" y="3810000"/>
            <a:ext cx="207645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0891B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B46DDAF-B082-4C18-8C4E-719B309EACD1}"/>
              </a:ext>
            </a:extLst>
          </p:cNvPr>
          <p:cNvSpPr>
            <a:spLocks noGrp="1"/>
          </p:cNvSpPr>
          <p:nvPr/>
        </p:nvSpPr>
        <p:spPr>
          <a:xfrm>
            <a:off x="1085850" y="4038600"/>
            <a:ext cx="1619250" cy="3238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1275" b="1" i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Demo now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07D0B73-807A-4029-909C-E9D0B9B6069E}"/>
              </a:ext>
            </a:extLst>
          </p:cNvPr>
          <p:cNvSpPr>
            <a:spLocks noGrp="1"/>
          </p:cNvSpPr>
          <p:nvPr/>
        </p:nvSpPr>
        <p:spPr>
          <a:xfrm>
            <a:off x="1085850" y="4495800"/>
            <a:ext cx="1619250" cy="666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125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Base Sepolia</a:t>
            </a:r>
          </a:p>
          <a:p>
            <a:pPr algn="l">
              <a:lnSpc>
                <a:spcPct val="118000"/>
              </a:lnSpc>
              <a:buNone/>
              <a:defRPr sz="1125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x402.org facilitator</a:t>
            </a:r>
          </a:p>
          <a:p>
            <a:pPr algn="l">
              <a:lnSpc>
                <a:spcPct val="118000"/>
              </a:lnSpc>
              <a:buNone/>
              <a:defRPr sz="1125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0.01 USDC/query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D64E756-065C-41DE-8BE4-484420684399}"/>
              </a:ext>
            </a:extLst>
          </p:cNvPr>
          <p:cNvSpPr>
            <a:spLocks noGrp="1"/>
          </p:cNvSpPr>
          <p:nvPr/>
        </p:nvSpPr>
        <p:spPr>
          <a:xfrm flipV="1">
            <a:off x="3448050" y="3190336"/>
            <a:ext cx="239562" cy="228603"/>
          </a:xfrm>
          <a:prstGeom prst="rect">
            <a:avLst/>
          </a:prstGeom>
          <a:solidFill>
            <a:srgbClr val="047857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3FD94F7-CBFA-4FCD-B248-DE3D68E29CB0}"/>
              </a:ext>
            </a:extLst>
          </p:cNvPr>
          <p:cNvSpPr>
            <a:spLocks noGrp="1"/>
          </p:cNvSpPr>
          <p:nvPr/>
        </p:nvSpPr>
        <p:spPr>
          <a:xfrm>
            <a:off x="3448050" y="3810000"/>
            <a:ext cx="207645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047857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1CF0DAC-326D-4C0C-8A62-7C50DF7776E0}"/>
              </a:ext>
            </a:extLst>
          </p:cNvPr>
          <p:cNvSpPr>
            <a:spLocks noGrp="1"/>
          </p:cNvSpPr>
          <p:nvPr/>
        </p:nvSpPr>
        <p:spPr>
          <a:xfrm>
            <a:off x="3657600" y="4038600"/>
            <a:ext cx="1619250" cy="3238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1275" b="1" i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Policy hardening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846443D-B225-4A96-96F1-2131F834C1DA}"/>
              </a:ext>
            </a:extLst>
          </p:cNvPr>
          <p:cNvSpPr>
            <a:spLocks noGrp="1"/>
          </p:cNvSpPr>
          <p:nvPr/>
        </p:nvSpPr>
        <p:spPr>
          <a:xfrm>
            <a:off x="3657600" y="4495800"/>
            <a:ext cx="1619250" cy="666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125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Pact usage limits</a:t>
            </a:r>
          </a:p>
          <a:p>
            <a:pPr algn="l">
              <a:lnSpc>
                <a:spcPct val="118000"/>
              </a:lnSpc>
              <a:buNone/>
              <a:defRPr sz="1125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单笔/累计额度</a:t>
            </a:r>
          </a:p>
          <a:p>
            <a:pPr algn="l">
              <a:lnSpc>
                <a:spcPct val="118000"/>
              </a:lnSpc>
              <a:buNone/>
              <a:defRPr sz="1125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服务方白名单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84AE6D0-65A0-4B29-AD9F-7D4C0575B284}"/>
              </a:ext>
            </a:extLst>
          </p:cNvPr>
          <p:cNvSpPr>
            <a:spLocks noGrp="1"/>
          </p:cNvSpPr>
          <p:nvPr/>
        </p:nvSpPr>
        <p:spPr>
          <a:xfrm flipV="1">
            <a:off x="6019800" y="3190336"/>
            <a:ext cx="239562" cy="228603"/>
          </a:xfrm>
          <a:prstGeom prst="rect">
            <a:avLst/>
          </a:prstGeom>
          <a:solidFill>
            <a:srgbClr val="D97706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570EF03-C3F8-4308-8977-589ECCDDE676}"/>
              </a:ext>
            </a:extLst>
          </p:cNvPr>
          <p:cNvSpPr>
            <a:spLocks noGrp="1"/>
          </p:cNvSpPr>
          <p:nvPr/>
        </p:nvSpPr>
        <p:spPr>
          <a:xfrm>
            <a:off x="6019800" y="3810000"/>
            <a:ext cx="207645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7706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2A68E9F-721C-4928-BD00-E7E548594D6F}"/>
              </a:ext>
            </a:extLst>
          </p:cNvPr>
          <p:cNvSpPr>
            <a:spLocks noGrp="1"/>
          </p:cNvSpPr>
          <p:nvPr/>
        </p:nvSpPr>
        <p:spPr>
          <a:xfrm>
            <a:off x="6229350" y="4038600"/>
            <a:ext cx="1619250" cy="3238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1275" b="1" i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Latency optimization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D3AD2A1-B0B4-4592-900B-5B6EAD4D7DBF}"/>
              </a:ext>
            </a:extLst>
          </p:cNvPr>
          <p:cNvSpPr>
            <a:spLocks noGrp="1"/>
          </p:cNvSpPr>
          <p:nvPr/>
        </p:nvSpPr>
        <p:spPr>
          <a:xfrm>
            <a:off x="6229350" y="4495800"/>
            <a:ext cx="1619250" cy="666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125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预签名池</a:t>
            </a:r>
          </a:p>
          <a:p>
            <a:pPr algn="l">
              <a:lnSpc>
                <a:spcPct val="118000"/>
              </a:lnSpc>
              <a:buNone/>
              <a:defRPr sz="1125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批量支付</a:t>
            </a:r>
          </a:p>
          <a:p>
            <a:pPr algn="l">
              <a:lnSpc>
                <a:spcPct val="118000"/>
              </a:lnSpc>
              <a:buNone/>
              <a:defRPr sz="1125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MPC 企业级部署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91BD02D-F639-44F3-8214-BE3C48681BFE}"/>
              </a:ext>
            </a:extLst>
          </p:cNvPr>
          <p:cNvSpPr>
            <a:spLocks noGrp="1"/>
          </p:cNvSpPr>
          <p:nvPr/>
        </p:nvSpPr>
        <p:spPr>
          <a:xfrm flipV="1">
            <a:off x="8591550" y="3190336"/>
            <a:ext cx="239562" cy="228603"/>
          </a:xfrm>
          <a:prstGeom prst="rect">
            <a:avLst/>
          </a:prstGeom>
          <a:solidFill>
            <a:srgbClr val="BE123C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935698B-1E67-4AF0-AEC5-07FB712787A3}"/>
              </a:ext>
            </a:extLst>
          </p:cNvPr>
          <p:cNvSpPr>
            <a:spLocks noGrp="1"/>
          </p:cNvSpPr>
          <p:nvPr/>
        </p:nvSpPr>
        <p:spPr>
          <a:xfrm>
            <a:off x="8591550" y="3810000"/>
            <a:ext cx="207645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BE123C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49B1348-82E1-4D64-97CF-DBC5606E2A29}"/>
              </a:ext>
            </a:extLst>
          </p:cNvPr>
          <p:cNvSpPr>
            <a:spLocks noGrp="1"/>
          </p:cNvSpPr>
          <p:nvPr/>
        </p:nvSpPr>
        <p:spPr>
          <a:xfrm>
            <a:off x="8801100" y="4038600"/>
            <a:ext cx="1619250" cy="3238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1275" b="1" i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Mainnet readiness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1712205-63E3-4792-9219-AD8A781CF5B8}"/>
              </a:ext>
            </a:extLst>
          </p:cNvPr>
          <p:cNvSpPr>
            <a:spLocks noGrp="1"/>
          </p:cNvSpPr>
          <p:nvPr/>
        </p:nvSpPr>
        <p:spPr>
          <a:xfrm>
            <a:off x="8801100" y="4495800"/>
            <a:ext cx="1619250" cy="666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125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Base mainnet USDC</a:t>
            </a:r>
          </a:p>
          <a:p>
            <a:pPr algn="l">
              <a:lnSpc>
                <a:spcPct val="118000"/>
              </a:lnSpc>
              <a:buNone/>
              <a:defRPr sz="1125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生产 Facilitator</a:t>
            </a:r>
          </a:p>
          <a:p>
            <a:pPr algn="l">
              <a:lnSpc>
                <a:spcPct val="118000"/>
              </a:lnSpc>
              <a:buNone/>
              <a:defRPr sz="1125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监控与审计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517C562-203D-4807-98B3-3D96B7BC9124}"/>
              </a:ext>
            </a:extLst>
          </p:cNvPr>
          <p:cNvSpPr>
            <a:spLocks noGrp="1"/>
          </p:cNvSpPr>
          <p:nvPr/>
        </p:nvSpPr>
        <p:spPr>
          <a:xfrm>
            <a:off x="914400" y="5619750"/>
            <a:ext cx="10096500" cy="419100"/>
          </a:xfrm>
          <a:prstGeom prst="rect">
            <a:avLst/>
          </a:prstGeom>
          <a:solidFill>
            <a:srgbClr val="111827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98FF7B5-D6AB-4DB7-8EC8-E4FF47796424}"/>
              </a:ext>
            </a:extLst>
          </p:cNvPr>
          <p:cNvSpPr>
            <a:spLocks noGrp="1"/>
          </p:cNvSpPr>
          <p:nvPr/>
        </p:nvSpPr>
        <p:spPr>
          <a:xfrm>
            <a:off x="1181100" y="5734050"/>
            <a:ext cx="933450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12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代码硬编码集中在网络与合约地址；架构迁移主网无需推翻 LLM/tool/x402/CAW 分层。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712E13F-B3CF-44B6-8F42-675D249CDD81}"/>
              </a:ext>
            </a:extLst>
          </p:cNvPr>
          <p:cNvSpPr>
            <a:spLocks noGrp="1"/>
          </p:cNvSpPr>
          <p:nvPr/>
        </p:nvSpPr>
        <p:spPr>
          <a:xfrm>
            <a:off x="11334750" y="6400800"/>
            <a:ext cx="400050" cy="209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2000"/>
              </a:lnSpc>
              <a:buNone/>
              <a:defRPr sz="900" b="0" i="0">
                <a:solidFill>
                  <a:srgbClr val="64748B"/>
                </a:solidFill>
                <a:latin typeface="Avenir Next"/>
                <a:ea typeface="Avenir Next"/>
                <a:cs typeface="Avenir Next"/>
              </a:defRPr>
            </a:pPr>
            <a:r>
              <a:rPr sz="900" b="0" i="0">
                <a:solidFill>
                  <a:srgbClr val="64748B"/>
                </a:solidFill>
                <a:latin typeface="Avenir Next"/>
                <a:ea typeface="Avenir Next"/>
                <a:cs typeface="Avenir Next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21799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6E1ED470-5283-44D5-AE1D-48537F7A861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7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8911E1C-0085-40E4-9598-7822112D4F57}"/>
              </a:ext>
            </a:extLst>
          </p:cNvPr>
          <p:cNvSpPr>
            <a:spLocks noGrp="1"/>
          </p:cNvSpPr>
          <p:nvPr/>
        </p:nvSpPr>
        <p:spPr>
          <a:xfrm>
            <a:off x="742950" y="666750"/>
            <a:ext cx="2286000" cy="247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1050" b="1" i="0">
                <a:solidFill>
                  <a:srgbClr val="DDF3F7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DDF3F7"/>
                </a:solidFill>
                <a:latin typeface="Avenir Next"/>
                <a:ea typeface="Avenir Next"/>
                <a:cs typeface="Avenir Next"/>
              </a:rPr>
              <a:t>CONCLUSION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981E4CD-D3BE-4403-B469-07889199332C}"/>
              </a:ext>
            </a:extLst>
          </p:cNvPr>
          <p:cNvSpPr>
            <a:spLocks noGrp="1"/>
          </p:cNvSpPr>
          <p:nvPr/>
        </p:nvSpPr>
        <p:spPr>
          <a:xfrm>
            <a:off x="742950" y="1162050"/>
            <a:ext cx="9048750" cy="1104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29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ChainQuery 的贡献，是把“Agent 自主决策”和“链上可验证支付”合并成一个可运行模式。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B239868-252C-4210-BB29-CFCADF1CDF58}"/>
              </a:ext>
            </a:extLst>
          </p:cNvPr>
          <p:cNvSpPr>
            <a:spLocks noGrp="1"/>
          </p:cNvSpPr>
          <p:nvPr/>
        </p:nvSpPr>
        <p:spPr>
          <a:xfrm>
            <a:off x="914400" y="3105150"/>
            <a:ext cx="7239000" cy="533400"/>
          </a:xfrm>
          <a:prstGeom prst="rect">
            <a:avLst/>
          </a:prstGeom>
          <a:solidFill>
            <a:srgbClr val="1F2937"/>
          </a:solidFill>
          <a:ln w="9525">
            <a:solidFill>
              <a:srgbClr val="3B475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06220BF-3C14-40E7-B6E8-9F61195F9B75}"/>
              </a:ext>
            </a:extLst>
          </p:cNvPr>
          <p:cNvSpPr>
            <a:spLocks noGrp="1"/>
          </p:cNvSpPr>
          <p:nvPr/>
        </p:nvSpPr>
        <p:spPr>
          <a:xfrm>
            <a:off x="1104900" y="3276600"/>
            <a:ext cx="171450" cy="171450"/>
          </a:xfrm>
          <a:prstGeom prst="rect">
            <a:avLst/>
          </a:prstGeom>
          <a:solidFill>
            <a:srgbClr val="0891B2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E475E5C-0901-449B-B0DE-D14732CB6AC1}"/>
              </a:ext>
            </a:extLst>
          </p:cNvPr>
          <p:cNvSpPr>
            <a:spLocks noGrp="1"/>
          </p:cNvSpPr>
          <p:nvPr/>
        </p:nvSpPr>
        <p:spPr>
          <a:xfrm>
            <a:off x="1504950" y="3228975"/>
            <a:ext cx="1714500" cy="209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Autonomy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65238BE-FF85-4D1F-BE64-8970FC858049}"/>
              </a:ext>
            </a:extLst>
          </p:cNvPr>
          <p:cNvSpPr>
            <a:spLocks noGrp="1"/>
          </p:cNvSpPr>
          <p:nvPr/>
        </p:nvSpPr>
        <p:spPr>
          <a:xfrm>
            <a:off x="3238500" y="321945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1200" b="0" i="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LLM 自主选择工具与参数，不靠关键词规则。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04AB6CD-798E-4883-A3D8-6FC5FAC8CAE2}"/>
              </a:ext>
            </a:extLst>
          </p:cNvPr>
          <p:cNvSpPr>
            <a:spLocks noGrp="1"/>
          </p:cNvSpPr>
          <p:nvPr/>
        </p:nvSpPr>
        <p:spPr>
          <a:xfrm>
            <a:off x="914400" y="3943350"/>
            <a:ext cx="7239000" cy="533400"/>
          </a:xfrm>
          <a:prstGeom prst="rect">
            <a:avLst/>
          </a:prstGeom>
          <a:solidFill>
            <a:srgbClr val="1F2937"/>
          </a:solidFill>
          <a:ln w="9525">
            <a:solidFill>
              <a:srgbClr val="3B475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76B9863-F11F-4E8D-B5C3-27CFC34B4DD9}"/>
              </a:ext>
            </a:extLst>
          </p:cNvPr>
          <p:cNvSpPr>
            <a:spLocks noGrp="1"/>
          </p:cNvSpPr>
          <p:nvPr/>
        </p:nvSpPr>
        <p:spPr>
          <a:xfrm>
            <a:off x="1104900" y="4114800"/>
            <a:ext cx="171450" cy="171450"/>
          </a:xfrm>
          <a:prstGeom prst="rect">
            <a:avLst/>
          </a:prstGeom>
          <a:solidFill>
            <a:srgbClr val="047857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28AA290-B8F5-47A5-8057-DBC7B8DE50E2}"/>
              </a:ext>
            </a:extLst>
          </p:cNvPr>
          <p:cNvSpPr>
            <a:spLocks noGrp="1"/>
          </p:cNvSpPr>
          <p:nvPr/>
        </p:nvSpPr>
        <p:spPr>
          <a:xfrm>
            <a:off x="1504950" y="4067175"/>
            <a:ext cx="1714500" cy="209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Verifiability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9F113AD-ECF2-4676-9D81-2D886AFCA124}"/>
              </a:ext>
            </a:extLst>
          </p:cNvPr>
          <p:cNvSpPr>
            <a:spLocks noGrp="1"/>
          </p:cNvSpPr>
          <p:nvPr/>
        </p:nvSpPr>
        <p:spPr>
          <a:xfrm>
            <a:off x="3238500" y="405765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1200" b="0" i="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每次查询对应可查 tx hash 和 USDC 余额变化。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88B211C-021B-4FCE-935A-BEE3AA81D69C}"/>
              </a:ext>
            </a:extLst>
          </p:cNvPr>
          <p:cNvSpPr>
            <a:spLocks noGrp="1"/>
          </p:cNvSpPr>
          <p:nvPr/>
        </p:nvSpPr>
        <p:spPr>
          <a:xfrm>
            <a:off x="914400" y="4781550"/>
            <a:ext cx="7239000" cy="533400"/>
          </a:xfrm>
          <a:prstGeom prst="rect">
            <a:avLst/>
          </a:prstGeom>
          <a:solidFill>
            <a:srgbClr val="1F2937"/>
          </a:solidFill>
          <a:ln w="9525">
            <a:solidFill>
              <a:srgbClr val="3B475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A7C078B-C59F-467E-BA9C-89EB68D46C0C}"/>
              </a:ext>
            </a:extLst>
          </p:cNvPr>
          <p:cNvSpPr>
            <a:spLocks noGrp="1"/>
          </p:cNvSpPr>
          <p:nvPr/>
        </p:nvSpPr>
        <p:spPr>
          <a:xfrm>
            <a:off x="1104900" y="4953000"/>
            <a:ext cx="171450" cy="171450"/>
          </a:xfrm>
          <a:prstGeom prst="rect">
            <a:avLst/>
          </a:prstGeom>
          <a:solidFill>
            <a:srgbClr val="D97706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357456B-6E51-450C-A63F-DACE6E4084EB}"/>
              </a:ext>
            </a:extLst>
          </p:cNvPr>
          <p:cNvSpPr>
            <a:spLocks noGrp="1"/>
          </p:cNvSpPr>
          <p:nvPr/>
        </p:nvSpPr>
        <p:spPr>
          <a:xfrm>
            <a:off x="1504950" y="4905375"/>
            <a:ext cx="1714500" cy="209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Bounded authority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A811D58-3158-4353-B7C2-304AA72DC5FB}"/>
              </a:ext>
            </a:extLst>
          </p:cNvPr>
          <p:cNvSpPr>
            <a:spLocks noGrp="1"/>
          </p:cNvSpPr>
          <p:nvPr/>
        </p:nvSpPr>
        <p:spPr>
          <a:xfrm>
            <a:off x="3238500" y="489585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1200" b="0" i="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CAW MPC + Pact + 会话预算构成权限边界。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2FF6867-E477-408F-9C42-EF0A27177697}"/>
              </a:ext>
            </a:extLst>
          </p:cNvPr>
          <p:cNvSpPr>
            <a:spLocks noGrp="1"/>
          </p:cNvSpPr>
          <p:nvPr/>
        </p:nvSpPr>
        <p:spPr>
          <a:xfrm>
            <a:off x="9144000" y="3067050"/>
            <a:ext cx="1143000" cy="28575"/>
          </a:xfrm>
          <a:prstGeom prst="rect">
            <a:avLst/>
          </a:prstGeom>
          <a:solidFill>
            <a:srgbClr val="0891B2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76D0783-7E7E-4B9F-891D-6E65066C60C3}"/>
              </a:ext>
            </a:extLst>
          </p:cNvPr>
          <p:cNvSpPr>
            <a:spLocks noGrp="1"/>
          </p:cNvSpPr>
          <p:nvPr/>
        </p:nvSpPr>
        <p:spPr>
          <a:xfrm>
            <a:off x="9144000" y="3171825"/>
            <a:ext cx="1524000" cy="209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1050" b="1" i="0">
                <a:solidFill>
                  <a:srgbClr val="DDF3F7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DDF3F7"/>
                </a:solidFill>
                <a:latin typeface="Avenir Next"/>
                <a:ea typeface="Avenir Next"/>
                <a:cs typeface="Avenir Next"/>
              </a:rPr>
              <a:t>Demo answer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891FF51-C013-4CA4-9AD2-DDE706933FED}"/>
              </a:ext>
            </a:extLst>
          </p:cNvPr>
          <p:cNvSpPr>
            <a:spLocks noGrp="1"/>
          </p:cNvSpPr>
          <p:nvPr/>
        </p:nvSpPr>
        <p:spPr>
          <a:xfrm>
            <a:off x="9144000" y="3533774"/>
            <a:ext cx="1809750" cy="180022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5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Agent 可以为自己买数据；关键不是“能付钱”，而是每一笔钱都可解释、可限制、可验证。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263900D-2F34-4A00-986D-1FACC62A075F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819150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750" b="0" i="0">
                <a:solidFill>
                  <a:srgbClr val="B7C1CE"/>
                </a:solidFill>
                <a:latin typeface="Avenir Next"/>
                <a:ea typeface="Avenir Next"/>
                <a:cs typeface="Avenir Next"/>
              </a:defRPr>
            </a:pPr>
            <a:r>
              <a:rPr sz="750" b="0" i="0">
                <a:solidFill>
                  <a:srgbClr val="B7C1CE"/>
                </a:solidFill>
                <a:latin typeface="Avenir Next"/>
                <a:ea typeface="Avenir Next"/>
                <a:cs typeface="Avenir Next"/>
              </a:rPr>
              <a:t>ChainQuery Agent — Cobo Track 01 Hackathon Demo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12525B7-36A3-4634-927F-42EC20CBD30C}"/>
              </a:ext>
            </a:extLst>
          </p:cNvPr>
          <p:cNvSpPr>
            <a:spLocks noGrp="1"/>
          </p:cNvSpPr>
          <p:nvPr/>
        </p:nvSpPr>
        <p:spPr>
          <a:xfrm>
            <a:off x="11334750" y="6400800"/>
            <a:ext cx="400050" cy="209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2000"/>
              </a:lnSpc>
              <a:buNone/>
              <a:defRPr sz="900" b="0" i="0">
                <a:solidFill>
                  <a:srgbClr val="B7C1CE"/>
                </a:solidFill>
                <a:latin typeface="Avenir Next"/>
                <a:ea typeface="Avenir Next"/>
                <a:cs typeface="Avenir Next"/>
              </a:defRPr>
            </a:pPr>
            <a:r>
              <a:rPr sz="900" b="0" i="0">
                <a:solidFill>
                  <a:srgbClr val="B7C1CE"/>
                </a:solidFill>
                <a:latin typeface="Avenir Next"/>
                <a:ea typeface="Avenir Next"/>
                <a:cs typeface="Avenir Next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612400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815</Words>
  <Application>Microsoft Macintosh PowerPoint</Application>
  <DocSecurity>0</DocSecurity>
  <PresentationFormat>宽屏</PresentationFormat>
  <Paragraphs>235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PingFang SC</vt:lpstr>
      <vt:lpstr>Avenir Next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office</cp:lastModifiedBy>
  <cp:revision>31</cp:revision>
  <dcterms:created xsi:type="dcterms:W3CDTF">2026-06-08T13:40:00Z</dcterms:created>
  <dcterms:modified xsi:type="dcterms:W3CDTF">2026-06-10T15:23:22Z</dcterms:modified>
</cp:coreProperties>
</file>